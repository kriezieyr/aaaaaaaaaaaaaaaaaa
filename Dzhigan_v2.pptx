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Сегодня поговорим о Джигане. Чаще всего его воспринимают через призму мемов и соцсетей, но если взглянуть на дистанцию в двадцать лет, перед нами артист с уникальной траекторией: начав с бек-вокала и гостевых куплетов, он дошел до первого в стране «Бриллиантового диска» по новым правилам.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 паспорту он Денис Устименко-Вайнштейн, родился в Одессе в восемьдесят пятом. Важный нюанс: Джиган пришел в музыку не из поэтических рэп-баттлов, а из-за диджейского пульта в местных клубах. Годами работая с публикой вживую, он буквально кожей прочувствовал, под какой бит двигается зал. Он никогда не претендовал на лавры сложного подпольного лирика — он с самого начала делал танцевальный коммерческий продукт.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Первый заметный релиз случился в 2005 году — фит «Мои пацаны» с группой «Крёстная семья». Дальше он поехал с ними на гастроли как диджей и концертный эмси. В тусовке его приметил DJ DLee, познакомил с Тимати, и уже в 2007-м Джиган подписал контракт с Black Star. Лейбл тогда только набирал обороты, и для одесского парня это стало прямым билетом в высшую лигу.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Black Star сложилась безотказная коммерческая схема: напористый речитатив на куплетах и узнаваемый женский поп-вокал на припеве. Сначала выстрелило «Холодное сердце» с Анной Седоковой, а в 2011-м грянул мегахит «Отпусти» с Юлией Савичевой. Трек играл отовсюду и собрал все возможные награды — от «Золотого граммофона» до «Песни года». Следом вышли работы с Жанной Фриске и «Дискотекой Авария». Сами продюсеры лейбла позже открыто говорили, что основные деньги компании в тот период приносили только два артиста: Тимати и Джиган.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Выпустив дебютные пластинки «Холодное сердце» и «Музыка. Жизнь», в конце 2013 года Джиган уходит с лейбла. Для многих сольный уход из крупного продюсерского центра заканчивался забвением, но Денис удержался на плаву. Он выпускает пластинку «Твой выбор», забирает очередную статуэтку за трек «Я и ты», а в альбоме «Джига» пробует более плотный южный звук. Стало ясно: слушатели приходят на его имя, а не просто на вывеску Black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2018 году выходит дуэт «ДНК» с Артёмом Качером — трек моментально оккупировал чарты и стал одним из главных радиохитов сезона. Параллельно Джиган выпускает релизы «Дни и ночи» и «Край рая», записывает фит с Григорием Лепсом. К концу десятилетия у него накопились четыре победы на премии Муз-ТВ за «Лучший хип-хоп проект». Редкий пример для русскоязычной сцены, когда артист стабильно удерживал прайм-тайм пять лет подряд.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 началом двадцатых Джиган перестроился под интернет-культуру. Практически любая его фраза из стрима или соцсетей становилась вирусной, и он научился мгновенно упаковывать этот хайп в треки. Достаточно вспомнить совместку «Хавчик» с Тимати и Даней Милохиным или расслабленный сайфер «На чиле», куда собралась добрая половина рэп-тусовки. В альбоме «Bang» он добавил автотюновый трэп. Он органично перешел из радиоротаций в рилсы и тиктоки, сохранив цифры и охваты.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Главный триумф случился осенью 2024-го с выходом сингла «Худи» вместе с Artik &amp; Asti и NILETTO. Песня взорвала стриминги, забрала «Трек года» на Яндекс Музыке и награды Top Hit, а в декабре 2025 года принесла статус «Бриллиантового диска» НФМИ — первого по обновленным нормативам в стране. Ветеран нулевых выпустил самый масштабный хит в своей карьере наравне со свежими кумирами молодежи.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чем реальная заслуга Джигана перед индустрией? Он довел до автоматизма формулу радиохита на стыке рэпа и эстрадного хука, пробив жанру дорогу в федеральный эфир. Музыкальные критики редко хвалили его за технику рифмовки, но у него всегда было продюсерское чутье на людей. Он легко собирал на одной дорожке Смоки Мо и Лепса, Тимати и зумерских фрешменов, безошибочно понимая запросы аудитории.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 двадцать лет Джиган прошел путь от клубных сетов в Одессе до высших наград стриминговой эпохи. Даже сейчас, когда музыка отошла для него на второй план, он остается редким примером артиста, сумевшего пройти через несколько смен трендов исключительно за счет нюха на хиты. Спасибо за внимание!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ПОРТРЕТ АРТИСТА · 2005–2025</a:t>
            </a:r>
            <a:endParaRPr lang="en-US" sz="1000" dirty="0"/>
          </a:p>
        </p:txBody>
      </p:sp>
      <p:pic>
        <p:nvPicPr>
          <p:cNvPr id="3" name="Image 0" descr="Джиган на VK Fest 2025">    </p:cNvPr>
          <p:cNvPicPr>
            <a:picLocks noChangeAspect="1"/>
          </p:cNvPicPr>
          <p:nvPr/>
        </p:nvPicPr>
        <p:blipFill>
          <a:blip r:embed="rId1"/>
          <a:stretch>
            <a:fillRect/>
          </a:stretch>
        </p:blipFill>
        <p:spPr>
          <a:xfrm>
            <a:off x="5486400" y="0"/>
            <a:ext cx="3657600" cy="5143500"/>
          </a:xfrm>
          <a:prstGeom prst="rect">
            <a:avLst/>
          </a:prstGeom>
        </p:spPr>
      </p:pic>
      <p:sp>
        <p:nvSpPr>
          <p:cNvPr id="4" name="Shape 1"/>
          <p:cNvSpPr/>
          <p:nvPr/>
        </p:nvSpPr>
        <p:spPr>
          <a:xfrm>
            <a:off x="5486400" y="4869180"/>
            <a:ext cx="3657600" cy="274320"/>
          </a:xfrm>
          <a:prstGeom prst="rect">
            <a:avLst/>
          </a:prstGeom>
          <a:solidFill>
            <a:srgbClr val="000000">
              <a:alpha val="55000"/>
            </a:srgbClr>
          </a:solidFill>
          <a:ln/>
        </p:spPr>
      </p:sp>
      <p:sp>
        <p:nvSpPr>
          <p:cNvPr id="5" name="Text 2"/>
          <p:cNvSpPr txBox="1"/>
          <p:nvPr/>
        </p:nvSpPr>
        <p:spPr>
          <a:xfrm>
            <a:off x="5623560" y="4869180"/>
            <a:ext cx="3383280" cy="274320"/>
          </a:xfrm>
          <a:prstGeom prst="rect">
            <a:avLst/>
          </a:prstGeom>
          <a:noFill/>
          <a:ln/>
        </p:spPr>
        <p:txBody>
          <a:bodyPr wrap="square" lIns="0" tIns="0" rIns="0" bIns="0" rtlCol="0" anchor="ctr"/>
          <a:lstStyle/>
          <a:p>
            <a:pPr algn="r" indent="0" marL="0">
              <a:buNone/>
            </a:pPr>
            <a:r>
              <a:rPr lang="en-US" sz="700" dirty="0">
                <a:solidFill>
                  <a:srgbClr val="E6E6EC"/>
                </a:solidFill>
                <a:latin typeface="Arial" pitchFamily="34" charset="0"/>
                <a:ea typeface="Arial" pitchFamily="34" charset="-122"/>
                <a:cs typeface="Arial" pitchFamily="34" charset="-120"/>
              </a:rPr>
              <a:t>Фото: Okras, CC BY-SA 4.0</a:t>
            </a:r>
            <a:endParaRPr lang="en-US" sz="700" dirty="0"/>
          </a:p>
        </p:txBody>
      </p:sp>
      <p:sp>
        <p:nvSpPr>
          <p:cNvPr id="6" name="Text 3"/>
          <p:cNvSpPr txBox="1"/>
          <p:nvPr/>
        </p:nvSpPr>
        <p:spPr>
          <a:xfrm>
            <a:off x="548640" y="1417320"/>
            <a:ext cx="4754880" cy="1097280"/>
          </a:xfrm>
          <a:prstGeom prst="rect">
            <a:avLst/>
          </a:prstGeom>
          <a:noFill/>
          <a:ln/>
        </p:spPr>
        <p:txBody>
          <a:bodyPr wrap="square" lIns="0" tIns="0" rIns="0" bIns="0" rtlCol="0" anchor="ctr"/>
          <a:lstStyle/>
          <a:p>
            <a:pPr indent="0" marL="0">
              <a:buNone/>
            </a:pPr>
            <a:r>
              <a:rPr lang="en-US" sz="6600" b="1" dirty="0">
                <a:solidFill>
                  <a:srgbClr val="F4F4F6"/>
                </a:solidFill>
                <a:latin typeface="Arial" pitchFamily="34" charset="0"/>
                <a:ea typeface="Arial" pitchFamily="34" charset="-122"/>
                <a:cs typeface="Arial" pitchFamily="34" charset="-120"/>
              </a:rPr>
              <a:t>Джиган</a:t>
            </a:r>
            <a:endParaRPr lang="en-US" sz="6600" dirty="0"/>
          </a:p>
        </p:txBody>
      </p:sp>
      <p:sp>
        <p:nvSpPr>
          <p:cNvPr id="7" name="Text 4"/>
          <p:cNvSpPr txBox="1"/>
          <p:nvPr/>
        </p:nvSpPr>
        <p:spPr>
          <a:xfrm>
            <a:off x="548640" y="2560320"/>
            <a:ext cx="4754880" cy="822960"/>
          </a:xfrm>
          <a:prstGeom prst="rect">
            <a:avLst/>
          </a:prstGeom>
          <a:noFill/>
          <a:ln/>
        </p:spPr>
        <p:txBody>
          <a:bodyPr wrap="square" lIns="0" tIns="0" rIns="0" bIns="0" rtlCol="0" anchor="t"/>
          <a:lstStyle/>
          <a:p>
            <a:pPr indent="0" marL="0">
              <a:buNone/>
            </a:pPr>
            <a:r>
              <a:rPr lang="en-US" sz="2000" dirty="0">
                <a:solidFill>
                  <a:srgbClr val="8E8E9C"/>
                </a:solidFill>
                <a:latin typeface="Arial" pitchFamily="34" charset="0"/>
                <a:ea typeface="Arial" pitchFamily="34" charset="-122"/>
                <a:cs typeface="Arial" pitchFamily="34" charset="-120"/>
              </a:rPr>
              <a:t>От одесского диджея</a:t>
            </a:r>
            <a:endParaRPr lang="en-US" sz="2000" dirty="0"/>
          </a:p>
          <a:p>
            <a:pPr indent="0" marL="0">
              <a:buNone/>
            </a:pPr>
            <a:r>
              <a:rPr lang="en-US" sz="2000" dirty="0">
                <a:solidFill>
                  <a:srgbClr val="8E8E9C"/>
                </a:solidFill>
                <a:latin typeface="Arial" pitchFamily="34" charset="0"/>
                <a:ea typeface="Arial" pitchFamily="34" charset="-122"/>
                <a:cs typeface="Arial" pitchFamily="34" charset="-120"/>
              </a:rPr>
              <a:t>до «Бриллиантового диска»</a:t>
            </a:r>
            <a:endParaRPr lang="en-US" sz="2000" dirty="0"/>
          </a:p>
        </p:txBody>
      </p:sp>
      <p:sp>
        <p:nvSpPr>
          <p:cNvPr id="8" name="Shape 5"/>
          <p:cNvSpPr/>
          <p:nvPr/>
        </p:nvSpPr>
        <p:spPr>
          <a:xfrm>
            <a:off x="548640" y="3977640"/>
            <a:ext cx="1645920" cy="310896"/>
          </a:xfrm>
          <a:prstGeom prst="roundRect">
            <a:avLst>
              <a:gd name="adj" fmla="val 50000"/>
            </a:avLst>
          </a:prstGeom>
          <a:solidFill>
            <a:srgbClr val="231F3D"/>
          </a:solidFill>
          <a:ln w="9525">
            <a:solidFill>
              <a:srgbClr val="8B7CF6"/>
            </a:solidFill>
            <a:prstDash val="solid"/>
          </a:ln>
        </p:spPr>
      </p:sp>
      <p:sp>
        <p:nvSpPr>
          <p:cNvPr id="9" name="Text 6"/>
          <p:cNvSpPr txBox="1"/>
          <p:nvPr/>
        </p:nvSpPr>
        <p:spPr>
          <a:xfrm>
            <a:off x="548640" y="3977640"/>
            <a:ext cx="1645920" cy="310896"/>
          </a:xfrm>
          <a:prstGeom prst="rect">
            <a:avLst/>
          </a:prstGeom>
          <a:noFill/>
          <a:ln/>
        </p:spPr>
        <p:txBody>
          <a:bodyPr wrap="square" lIns="0" tIns="0" rIns="0" bIns="0" rtlCol="0" anchor="ctr"/>
          <a:lstStyle/>
          <a:p>
            <a:pPr algn="ctr" indent="0" marL="0">
              <a:buNone/>
            </a:pPr>
            <a:r>
              <a:rPr lang="en-US" sz="1100" dirty="0">
                <a:solidFill>
                  <a:srgbClr val="F4F4F6"/>
                </a:solidFill>
                <a:latin typeface="Arial" pitchFamily="34" charset="0"/>
                <a:ea typeface="Arial" pitchFamily="34" charset="-122"/>
                <a:cs typeface="Arial" pitchFamily="34" charset="-120"/>
              </a:rPr>
              <a:t>20 лет на сцене</a:t>
            </a:r>
            <a:endParaRPr lang="en-US" sz="1100" dirty="0"/>
          </a:p>
        </p:txBody>
      </p:sp>
      <p:sp>
        <p:nvSpPr>
          <p:cNvPr id="10" name="Shape 7"/>
          <p:cNvSpPr/>
          <p:nvPr/>
        </p:nvSpPr>
        <p:spPr>
          <a:xfrm>
            <a:off x="2331720" y="3977640"/>
            <a:ext cx="2331720" cy="310896"/>
          </a:xfrm>
          <a:prstGeom prst="roundRect">
            <a:avLst>
              <a:gd name="adj" fmla="val 50000"/>
            </a:avLst>
          </a:prstGeom>
          <a:solidFill>
            <a:srgbClr val="231F3D"/>
          </a:solidFill>
          <a:ln w="9525">
            <a:solidFill>
              <a:srgbClr val="8B7CF6"/>
            </a:solidFill>
            <a:prstDash val="solid"/>
          </a:ln>
        </p:spPr>
      </p:sp>
      <p:sp>
        <p:nvSpPr>
          <p:cNvPr id="11" name="Text 8"/>
          <p:cNvSpPr txBox="1"/>
          <p:nvPr/>
        </p:nvSpPr>
        <p:spPr>
          <a:xfrm>
            <a:off x="2331720" y="3977640"/>
            <a:ext cx="2331720" cy="310896"/>
          </a:xfrm>
          <a:prstGeom prst="rect">
            <a:avLst/>
          </a:prstGeom>
          <a:noFill/>
          <a:ln/>
        </p:spPr>
        <p:txBody>
          <a:bodyPr wrap="square" lIns="0" tIns="0" rIns="0" bIns="0" rtlCol="0" anchor="ctr"/>
          <a:lstStyle/>
          <a:p>
            <a:pPr algn="ctr" indent="0" marL="0">
              <a:buNone/>
            </a:pPr>
            <a:r>
              <a:rPr lang="en-US" sz="1100" dirty="0">
                <a:solidFill>
                  <a:srgbClr val="F4F4F6"/>
                </a:solidFill>
                <a:latin typeface="Arial" pitchFamily="34" charset="0"/>
                <a:ea typeface="Arial" pitchFamily="34" charset="-122"/>
                <a:cs typeface="Arial" pitchFamily="34" charset="-120"/>
              </a:rPr>
              <a:t>1-й «Бриллиантовый диск»</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37490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КТО ЭТО</a:t>
            </a:r>
            <a:endParaRPr lang="en-US" sz="1000" dirty="0"/>
          </a:p>
        </p:txBody>
      </p:sp>
      <p:pic>
        <p:nvPicPr>
          <p:cNvPr id="3" name="Image 0" descr="Портрет Джигана">    </p:cNvPr>
          <p:cNvPicPr>
            <a:picLocks noChangeAspect="1"/>
          </p:cNvPicPr>
          <p:nvPr/>
        </p:nvPicPr>
        <p:blipFill>
          <a:blip r:embed="rId1"/>
          <a:stretch>
            <a:fillRect/>
          </a:stretch>
        </p:blipFill>
        <p:spPr>
          <a:xfrm>
            <a:off x="0" y="0"/>
            <a:ext cx="3291840" cy="5143500"/>
          </a:xfrm>
          <a:prstGeom prst="rect">
            <a:avLst/>
          </a:prstGeom>
        </p:spPr>
      </p:pic>
      <p:sp>
        <p:nvSpPr>
          <p:cNvPr id="4" name="Shape 1"/>
          <p:cNvSpPr/>
          <p:nvPr/>
        </p:nvSpPr>
        <p:spPr>
          <a:xfrm>
            <a:off x="0" y="4869180"/>
            <a:ext cx="3291840" cy="274320"/>
          </a:xfrm>
          <a:prstGeom prst="rect">
            <a:avLst/>
          </a:prstGeom>
          <a:solidFill>
            <a:srgbClr val="000000">
              <a:alpha val="55000"/>
            </a:srgbClr>
          </a:solidFill>
          <a:ln/>
        </p:spPr>
      </p:sp>
      <p:sp>
        <p:nvSpPr>
          <p:cNvPr id="5" name="Text 2"/>
          <p:cNvSpPr txBox="1"/>
          <p:nvPr/>
        </p:nvSpPr>
        <p:spPr>
          <a:xfrm>
            <a:off x="137160" y="4869180"/>
            <a:ext cx="3017520" cy="274320"/>
          </a:xfrm>
          <a:prstGeom prst="rect">
            <a:avLst/>
          </a:prstGeom>
          <a:noFill/>
          <a:ln/>
        </p:spPr>
        <p:txBody>
          <a:bodyPr wrap="square" lIns="0" tIns="0" rIns="0" bIns="0" rtlCol="0" anchor="ctr"/>
          <a:lstStyle/>
          <a:p>
            <a:pPr algn="r" indent="0" marL="0">
              <a:buNone/>
            </a:pPr>
            <a:r>
              <a:rPr lang="en-US" sz="700" dirty="0">
                <a:solidFill>
                  <a:srgbClr val="E6E6EC"/>
                </a:solidFill>
                <a:latin typeface="Arial" pitchFamily="34" charset="0"/>
                <a:ea typeface="Arial" pitchFamily="34" charset="-122"/>
                <a:cs typeface="Arial" pitchFamily="34" charset="-120"/>
              </a:rPr>
              <a:t>Фото: Алексей Гоманков, CC BY-SA 4.0</a:t>
            </a:r>
            <a:endParaRPr lang="en-US" sz="700" dirty="0"/>
          </a:p>
        </p:txBody>
      </p:sp>
      <p:sp>
        <p:nvSpPr>
          <p:cNvPr id="6" name="Text 3"/>
          <p:cNvSpPr txBox="1"/>
          <p:nvPr/>
        </p:nvSpPr>
        <p:spPr>
          <a:xfrm>
            <a:off x="3749040" y="731520"/>
            <a:ext cx="4937760" cy="1097280"/>
          </a:xfrm>
          <a:prstGeom prst="rect">
            <a:avLst/>
          </a:prstGeom>
          <a:noFill/>
          <a:ln/>
        </p:spPr>
        <p:txBody>
          <a:bodyPr wrap="square" lIns="0" tIns="0" rIns="0" bIns="0" rtlCol="0" anchor="t"/>
          <a:lstStyle/>
          <a:p>
            <a:pPr indent="0" marL="0">
              <a:buNone/>
            </a:pPr>
            <a:r>
              <a:rPr lang="en-US" sz="2800" b="1" dirty="0">
                <a:solidFill>
                  <a:srgbClr val="F4F4F6"/>
                </a:solidFill>
                <a:latin typeface="Arial" pitchFamily="34" charset="0"/>
                <a:ea typeface="Arial" pitchFamily="34" charset="-122"/>
                <a:cs typeface="Arial" pitchFamily="34" charset="-120"/>
              </a:rPr>
              <a:t>Денис</a:t>
            </a:r>
            <a:endParaRPr lang="en-US" sz="2800" dirty="0"/>
          </a:p>
          <a:p>
            <a:pPr indent="0" marL="0">
              <a:buNone/>
            </a:pPr>
            <a:r>
              <a:rPr lang="en-US" sz="2800" b="1" dirty="0">
                <a:solidFill>
                  <a:srgbClr val="F4F4F6"/>
                </a:solidFill>
                <a:latin typeface="Arial" pitchFamily="34" charset="0"/>
                <a:ea typeface="Arial" pitchFamily="34" charset="-122"/>
                <a:cs typeface="Arial" pitchFamily="34" charset="-120"/>
              </a:rPr>
              <a:t>Устименко-Вайнштейн</a:t>
            </a:r>
            <a:endParaRPr lang="en-US" sz="2800" dirty="0"/>
          </a:p>
        </p:txBody>
      </p:sp>
      <p:sp>
        <p:nvSpPr>
          <p:cNvPr id="7" name="Text 4"/>
          <p:cNvSpPr txBox="1"/>
          <p:nvPr/>
        </p:nvSpPr>
        <p:spPr>
          <a:xfrm>
            <a:off x="3749040" y="1874520"/>
            <a:ext cx="4846320" cy="548640"/>
          </a:xfrm>
          <a:prstGeom prst="rect">
            <a:avLst/>
          </a:prstGeom>
          <a:noFill/>
          <a:ln/>
        </p:spPr>
        <p:txBody>
          <a:bodyPr wrap="square" lIns="0" tIns="0" rIns="0" bIns="0" rtlCol="0" anchor="ctr"/>
          <a:lstStyle/>
          <a:p>
            <a:pPr indent="0" marL="0">
              <a:buNone/>
            </a:pPr>
            <a:r>
              <a:rPr lang="en-US" sz="3200" b="1" dirty="0">
                <a:solidFill>
                  <a:srgbClr val="8B7CF6"/>
                </a:solidFill>
                <a:latin typeface="Arial" pitchFamily="34" charset="0"/>
                <a:ea typeface="Arial" pitchFamily="34" charset="-122"/>
                <a:cs typeface="Arial" pitchFamily="34" charset="-120"/>
              </a:rPr>
              <a:t>1985</a:t>
            </a:r>
            <a:pPr indent="0" marL="0">
              <a:buNone/>
            </a:pPr>
            <a:r>
              <a:rPr lang="en-US" sz="1800" dirty="0">
                <a:solidFill>
                  <a:srgbClr val="8E8E9C"/>
                </a:solidFill>
                <a:latin typeface="Arial" pitchFamily="34" charset="0"/>
                <a:ea typeface="Arial" pitchFamily="34" charset="-122"/>
                <a:cs typeface="Arial" pitchFamily="34" charset="-120"/>
              </a:rPr>
              <a:t>  ·  Одесса</a:t>
            </a:r>
            <a:endParaRPr lang="en-US" sz="3200" dirty="0"/>
          </a:p>
        </p:txBody>
      </p:sp>
      <p:sp>
        <p:nvSpPr>
          <p:cNvPr id="8" name="Text 5"/>
          <p:cNvSpPr txBox="1"/>
          <p:nvPr/>
        </p:nvSpPr>
        <p:spPr>
          <a:xfrm>
            <a:off x="3749040" y="2679192"/>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01</a:t>
            </a:r>
            <a:endParaRPr lang="en-US" sz="1400" dirty="0"/>
          </a:p>
        </p:txBody>
      </p:sp>
      <p:sp>
        <p:nvSpPr>
          <p:cNvPr id="9" name="Text 6"/>
          <p:cNvSpPr txBox="1"/>
          <p:nvPr/>
        </p:nvSpPr>
        <p:spPr>
          <a:xfrm>
            <a:off x="4297680" y="2679192"/>
            <a:ext cx="429768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Диджей, а не баттл-МС</a:t>
            </a:r>
            <a:endParaRPr lang="en-US" sz="1600" dirty="0"/>
          </a:p>
        </p:txBody>
      </p:sp>
      <p:sp>
        <p:nvSpPr>
          <p:cNvPr id="10" name="Text 7"/>
          <p:cNvSpPr txBox="1"/>
          <p:nvPr/>
        </p:nvSpPr>
        <p:spPr>
          <a:xfrm>
            <a:off x="4297680" y="2971800"/>
            <a:ext cx="429768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Вырос за клубным пультом</a:t>
            </a:r>
            <a:endParaRPr lang="en-US" sz="1200" dirty="0"/>
          </a:p>
        </p:txBody>
      </p:sp>
      <p:sp>
        <p:nvSpPr>
          <p:cNvPr id="11" name="Text 8"/>
          <p:cNvSpPr txBox="1"/>
          <p:nvPr/>
        </p:nvSpPr>
        <p:spPr>
          <a:xfrm>
            <a:off x="3749040" y="3337560"/>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02</a:t>
            </a:r>
            <a:endParaRPr lang="en-US" sz="1400" dirty="0"/>
          </a:p>
        </p:txBody>
      </p:sp>
      <p:sp>
        <p:nvSpPr>
          <p:cNvPr id="12" name="Text 9"/>
          <p:cNvSpPr txBox="1"/>
          <p:nvPr/>
        </p:nvSpPr>
        <p:spPr>
          <a:xfrm>
            <a:off x="4297680" y="3337560"/>
            <a:ext cx="429768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Чувствует танцпол</a:t>
            </a:r>
            <a:endParaRPr lang="en-US" sz="1600" dirty="0"/>
          </a:p>
        </p:txBody>
      </p:sp>
      <p:sp>
        <p:nvSpPr>
          <p:cNvPr id="13" name="Text 10"/>
          <p:cNvSpPr txBox="1"/>
          <p:nvPr/>
        </p:nvSpPr>
        <p:spPr>
          <a:xfrm>
            <a:off x="4297680" y="3630168"/>
            <a:ext cx="429768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Годы работы с живой публикой</a:t>
            </a:r>
            <a:endParaRPr lang="en-US" sz="1200" dirty="0"/>
          </a:p>
        </p:txBody>
      </p:sp>
      <p:sp>
        <p:nvSpPr>
          <p:cNvPr id="14" name="Text 11"/>
          <p:cNvSpPr txBox="1"/>
          <p:nvPr/>
        </p:nvSpPr>
        <p:spPr>
          <a:xfrm>
            <a:off x="3749040" y="3995928"/>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03</a:t>
            </a:r>
            <a:endParaRPr lang="en-US" sz="1400" dirty="0"/>
          </a:p>
        </p:txBody>
      </p:sp>
      <p:sp>
        <p:nvSpPr>
          <p:cNvPr id="15" name="Text 12"/>
          <p:cNvSpPr txBox="1"/>
          <p:nvPr/>
        </p:nvSpPr>
        <p:spPr>
          <a:xfrm>
            <a:off x="4297680" y="3995928"/>
            <a:ext cx="429768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Ставка на коммерцию</a:t>
            </a:r>
            <a:endParaRPr lang="en-US" sz="1600" dirty="0"/>
          </a:p>
        </p:txBody>
      </p:sp>
      <p:sp>
        <p:nvSpPr>
          <p:cNvPr id="16" name="Text 13"/>
          <p:cNvSpPr txBox="1"/>
          <p:nvPr/>
        </p:nvSpPr>
        <p:spPr>
          <a:xfrm>
            <a:off x="4297680" y="4288536"/>
            <a:ext cx="429768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Танцевальный поп-рэп с первых треков</a:t>
            </a:r>
            <a:endParaRPr lang="en-US" sz="1200" dirty="0"/>
          </a:p>
        </p:txBody>
      </p:sp>
      <p:pic>
        <p:nvPicPr>
          <p:cNvPr id="17" name="Image 1" descr="Мем: кот, который планирует спать до моего возвращения — пока на расслабоне, на чиле">    </p:cNvPr>
          <p:cNvPicPr>
            <a:picLocks noChangeAspect="1"/>
          </p:cNvPicPr>
          <p:nvPr/>
        </p:nvPicPr>
        <p:blipFill>
          <a:blip r:embed="rId2"/>
          <a:stretch>
            <a:fillRect/>
          </a:stretch>
        </p:blipFill>
        <p:spPr>
          <a:xfrm rot="-300000">
            <a:off x="1920240" y="2788920"/>
            <a:ext cx="1554480" cy="1488966"/>
          </a:xfrm>
          <a:prstGeom prst="rect">
            <a:avLst/>
          </a:prstGeom>
        </p:spPr>
      </p:pic>
      <p:sp>
        <p:nvSpPr>
          <p:cNvPr id="18" name="Text 14"/>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СТАРТ · 2005–2007</a:t>
            </a:r>
            <a:endParaRPr lang="en-US" sz="1000" dirty="0"/>
          </a:p>
        </p:txBody>
      </p:sp>
      <p:sp>
        <p:nvSpPr>
          <p:cNvPr id="3" name="Text 1"/>
          <p:cNvSpPr txBox="1"/>
          <p:nvPr/>
        </p:nvSpPr>
        <p:spPr>
          <a:xfrm>
            <a:off x="548640" y="731520"/>
            <a:ext cx="8046720" cy="822960"/>
          </a:xfrm>
          <a:prstGeom prst="rect">
            <a:avLst/>
          </a:prstGeom>
          <a:noFill/>
          <a:ln/>
        </p:spPr>
        <p:txBody>
          <a:bodyPr wrap="square" lIns="0" tIns="0" rIns="0" bIns="0" rtlCol="0" anchor="t"/>
          <a:lstStyle/>
          <a:p>
            <a:pPr indent="0" marL="0">
              <a:buNone/>
            </a:pPr>
            <a:r>
              <a:rPr lang="en-US" sz="3400" b="1" dirty="0">
                <a:solidFill>
                  <a:srgbClr val="F4F4F6"/>
                </a:solidFill>
                <a:latin typeface="Arial" pitchFamily="34" charset="0"/>
                <a:ea typeface="Arial" pitchFamily="34" charset="-122"/>
                <a:cs typeface="Arial" pitchFamily="34" charset="-120"/>
              </a:rPr>
              <a:t>Из Одессы — в Black Star</a:t>
            </a:r>
            <a:endParaRPr lang="en-US" sz="3400" dirty="0"/>
          </a:p>
        </p:txBody>
      </p:sp>
      <p:sp>
        <p:nvSpPr>
          <p:cNvPr id="4" name="Shape 2"/>
          <p:cNvSpPr/>
          <p:nvPr/>
        </p:nvSpPr>
        <p:spPr>
          <a:xfrm>
            <a:off x="548640" y="1828800"/>
            <a:ext cx="2331720" cy="2103120"/>
          </a:xfrm>
          <a:prstGeom prst="roundRect">
            <a:avLst>
              <a:gd name="adj" fmla="val 3478"/>
            </a:avLst>
          </a:prstGeom>
          <a:solidFill>
            <a:srgbClr val="15151D"/>
          </a:solidFill>
          <a:ln w="9525">
            <a:solidFill>
              <a:srgbClr val="2A2A36"/>
            </a:solidFill>
            <a:prstDash val="solid"/>
          </a:ln>
        </p:spPr>
      </p:sp>
      <p:sp>
        <p:nvSpPr>
          <p:cNvPr id="5" name="Text 3"/>
          <p:cNvSpPr txBox="1"/>
          <p:nvPr/>
        </p:nvSpPr>
        <p:spPr>
          <a:xfrm>
            <a:off x="822960" y="2057400"/>
            <a:ext cx="1783080" cy="502920"/>
          </a:xfrm>
          <a:prstGeom prst="rect">
            <a:avLst/>
          </a:prstGeom>
          <a:noFill/>
          <a:ln/>
        </p:spPr>
        <p:txBody>
          <a:bodyPr wrap="square" lIns="0" tIns="0" rIns="0" bIns="0" rtlCol="0" anchor="ctr"/>
          <a:lstStyle/>
          <a:p>
            <a:pPr indent="0" marL="0">
              <a:buNone/>
            </a:pPr>
            <a:r>
              <a:rPr lang="en-US" sz="3000" b="1" dirty="0">
                <a:solidFill>
                  <a:srgbClr val="8B7CF6"/>
                </a:solidFill>
                <a:latin typeface="Arial" pitchFamily="34" charset="0"/>
                <a:ea typeface="Arial" pitchFamily="34" charset="-122"/>
                <a:cs typeface="Arial" pitchFamily="34" charset="-120"/>
              </a:rPr>
              <a:t>2005</a:t>
            </a:r>
            <a:endParaRPr lang="en-US" sz="3000" dirty="0"/>
          </a:p>
        </p:txBody>
      </p:sp>
      <p:sp>
        <p:nvSpPr>
          <p:cNvPr id="6" name="Text 4"/>
          <p:cNvSpPr txBox="1"/>
          <p:nvPr/>
        </p:nvSpPr>
        <p:spPr>
          <a:xfrm>
            <a:off x="822960" y="2788920"/>
            <a:ext cx="1783080" cy="365760"/>
          </a:xfrm>
          <a:prstGeom prst="rect">
            <a:avLst/>
          </a:prstGeom>
          <a:noFill/>
          <a:ln/>
        </p:spPr>
        <p:txBody>
          <a:bodyPr wrap="square" lIns="0" tIns="0" rIns="0" bIns="0" rtlCol="0" anchor="ctr"/>
          <a:lstStyle/>
          <a:p>
            <a:pPr indent="0" marL="0">
              <a:buNone/>
            </a:pPr>
            <a:r>
              <a:rPr lang="en-US" sz="1700" b="1" dirty="0">
                <a:solidFill>
                  <a:srgbClr val="F4F4F6"/>
                </a:solidFill>
                <a:latin typeface="Arial" pitchFamily="34" charset="0"/>
                <a:ea typeface="Arial" pitchFamily="34" charset="-122"/>
                <a:cs typeface="Arial" pitchFamily="34" charset="-120"/>
              </a:rPr>
              <a:t>«Мои пацаны»</a:t>
            </a:r>
            <a:endParaRPr lang="en-US" sz="1700" dirty="0"/>
          </a:p>
        </p:txBody>
      </p:sp>
      <p:sp>
        <p:nvSpPr>
          <p:cNvPr id="7" name="Text 5"/>
          <p:cNvSpPr txBox="1"/>
          <p:nvPr/>
        </p:nvSpPr>
        <p:spPr>
          <a:xfrm>
            <a:off x="822960" y="3200400"/>
            <a:ext cx="1783080" cy="502920"/>
          </a:xfrm>
          <a:prstGeom prst="rect">
            <a:avLst/>
          </a:prstGeom>
          <a:noFill/>
          <a:ln/>
        </p:spPr>
        <p:txBody>
          <a:bodyPr wrap="square" lIns="0" tIns="0" rIns="0" bIns="0" rtlCol="0" anchor="t"/>
          <a:lstStyle/>
          <a:p>
            <a:pPr indent="0" marL="0">
              <a:buNone/>
            </a:pPr>
            <a:r>
              <a:rPr lang="en-US" sz="1200" dirty="0">
                <a:solidFill>
                  <a:srgbClr val="8E8E9C"/>
                </a:solidFill>
                <a:latin typeface="Arial" pitchFamily="34" charset="0"/>
                <a:ea typeface="Arial" pitchFamily="34" charset="-122"/>
                <a:cs typeface="Arial" pitchFamily="34" charset="-120"/>
              </a:rPr>
              <a:t>Фит с «Крёстной семьёй»</a:t>
            </a:r>
            <a:endParaRPr lang="en-US" sz="1200" dirty="0"/>
          </a:p>
        </p:txBody>
      </p:sp>
      <p:sp>
        <p:nvSpPr>
          <p:cNvPr id="8" name="Text 6"/>
          <p:cNvSpPr txBox="1"/>
          <p:nvPr/>
        </p:nvSpPr>
        <p:spPr>
          <a:xfrm>
            <a:off x="2880360" y="2697480"/>
            <a:ext cx="521208" cy="365760"/>
          </a:xfrm>
          <a:prstGeom prst="rect">
            <a:avLst/>
          </a:prstGeom>
          <a:noFill/>
          <a:ln/>
        </p:spPr>
        <p:txBody>
          <a:bodyPr wrap="square" lIns="0" tIns="0" rIns="0" bIns="0" rtlCol="0" anchor="ctr"/>
          <a:lstStyle/>
          <a:p>
            <a:pPr algn="ctr" indent="0" marL="0">
              <a:buNone/>
            </a:pPr>
            <a:r>
              <a:rPr lang="en-US" sz="1800" dirty="0">
                <a:solidFill>
                  <a:srgbClr val="8E8E9C"/>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3401568" y="1828800"/>
            <a:ext cx="2331720" cy="2103120"/>
          </a:xfrm>
          <a:prstGeom prst="roundRect">
            <a:avLst>
              <a:gd name="adj" fmla="val 3478"/>
            </a:avLst>
          </a:prstGeom>
          <a:solidFill>
            <a:srgbClr val="15151D"/>
          </a:solidFill>
          <a:ln w="9525">
            <a:solidFill>
              <a:srgbClr val="2A2A36"/>
            </a:solidFill>
            <a:prstDash val="solid"/>
          </a:ln>
        </p:spPr>
      </p:sp>
      <p:sp>
        <p:nvSpPr>
          <p:cNvPr id="10" name="Text 8"/>
          <p:cNvSpPr txBox="1"/>
          <p:nvPr/>
        </p:nvSpPr>
        <p:spPr>
          <a:xfrm>
            <a:off x="3675888" y="2057400"/>
            <a:ext cx="1783080" cy="502920"/>
          </a:xfrm>
          <a:prstGeom prst="rect">
            <a:avLst/>
          </a:prstGeom>
          <a:noFill/>
          <a:ln/>
        </p:spPr>
        <p:txBody>
          <a:bodyPr wrap="square" lIns="0" tIns="0" rIns="0" bIns="0" rtlCol="0" anchor="ctr"/>
          <a:lstStyle/>
          <a:p>
            <a:pPr indent="0" marL="0">
              <a:buNone/>
            </a:pPr>
            <a:r>
              <a:rPr lang="en-US" sz="3000" b="1" dirty="0">
                <a:solidFill>
                  <a:srgbClr val="8B7CF6"/>
                </a:solidFill>
                <a:latin typeface="Arial" pitchFamily="34" charset="0"/>
                <a:ea typeface="Arial" pitchFamily="34" charset="-122"/>
                <a:cs typeface="Arial" pitchFamily="34" charset="-120"/>
              </a:rPr>
              <a:t>2006</a:t>
            </a:r>
            <a:endParaRPr lang="en-US" sz="3000" dirty="0"/>
          </a:p>
        </p:txBody>
      </p:sp>
      <p:sp>
        <p:nvSpPr>
          <p:cNvPr id="11" name="Text 9"/>
          <p:cNvSpPr txBox="1"/>
          <p:nvPr/>
        </p:nvSpPr>
        <p:spPr>
          <a:xfrm>
            <a:off x="3675888" y="2788920"/>
            <a:ext cx="1783080" cy="365760"/>
          </a:xfrm>
          <a:prstGeom prst="rect">
            <a:avLst/>
          </a:prstGeom>
          <a:noFill/>
          <a:ln/>
        </p:spPr>
        <p:txBody>
          <a:bodyPr wrap="square" lIns="0" tIns="0" rIns="0" bIns="0" rtlCol="0" anchor="ctr"/>
          <a:lstStyle/>
          <a:p>
            <a:pPr indent="0" marL="0">
              <a:buNone/>
            </a:pPr>
            <a:r>
              <a:rPr lang="en-US" sz="1700" b="1" dirty="0">
                <a:solidFill>
                  <a:srgbClr val="F4F4F6"/>
                </a:solidFill>
                <a:latin typeface="Arial" pitchFamily="34" charset="0"/>
                <a:ea typeface="Arial" pitchFamily="34" charset="-122"/>
                <a:cs typeface="Arial" pitchFamily="34" charset="-120"/>
              </a:rPr>
              <a:t>Гастроли</a:t>
            </a:r>
            <a:endParaRPr lang="en-US" sz="1700" dirty="0"/>
          </a:p>
        </p:txBody>
      </p:sp>
      <p:sp>
        <p:nvSpPr>
          <p:cNvPr id="12" name="Text 10"/>
          <p:cNvSpPr txBox="1"/>
          <p:nvPr/>
        </p:nvSpPr>
        <p:spPr>
          <a:xfrm>
            <a:off x="3675888" y="3200400"/>
            <a:ext cx="1783080" cy="502920"/>
          </a:xfrm>
          <a:prstGeom prst="rect">
            <a:avLst/>
          </a:prstGeom>
          <a:noFill/>
          <a:ln/>
        </p:spPr>
        <p:txBody>
          <a:bodyPr wrap="square" lIns="0" tIns="0" rIns="0" bIns="0" rtlCol="0" anchor="t"/>
          <a:lstStyle/>
          <a:p>
            <a:pPr indent="0" marL="0">
              <a:buNone/>
            </a:pPr>
            <a:r>
              <a:rPr lang="en-US" sz="1200" dirty="0">
                <a:solidFill>
                  <a:srgbClr val="8E8E9C"/>
                </a:solidFill>
                <a:latin typeface="Arial" pitchFamily="34" charset="0"/>
                <a:ea typeface="Arial" pitchFamily="34" charset="-122"/>
                <a:cs typeface="Arial" pitchFamily="34" charset="-120"/>
              </a:rPr>
              <a:t>Диджей и концертный МС</a:t>
            </a:r>
            <a:endParaRPr lang="en-US" sz="1200" dirty="0"/>
          </a:p>
        </p:txBody>
      </p:sp>
      <p:sp>
        <p:nvSpPr>
          <p:cNvPr id="13" name="Text 11"/>
          <p:cNvSpPr txBox="1"/>
          <p:nvPr/>
        </p:nvSpPr>
        <p:spPr>
          <a:xfrm>
            <a:off x="5733288" y="2697480"/>
            <a:ext cx="521208" cy="365760"/>
          </a:xfrm>
          <a:prstGeom prst="rect">
            <a:avLst/>
          </a:prstGeom>
          <a:noFill/>
          <a:ln/>
        </p:spPr>
        <p:txBody>
          <a:bodyPr wrap="square" lIns="0" tIns="0" rIns="0" bIns="0" rtlCol="0" anchor="ctr"/>
          <a:lstStyle/>
          <a:p>
            <a:pPr algn="ctr" indent="0" marL="0">
              <a:buNone/>
            </a:pPr>
            <a:r>
              <a:rPr lang="en-US" sz="1800" dirty="0">
                <a:solidFill>
                  <a:srgbClr val="8E8E9C"/>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6254496" y="1828800"/>
            <a:ext cx="2331720" cy="2103120"/>
          </a:xfrm>
          <a:prstGeom prst="roundRect">
            <a:avLst>
              <a:gd name="adj" fmla="val 3478"/>
            </a:avLst>
          </a:prstGeom>
          <a:solidFill>
            <a:srgbClr val="231F3D"/>
          </a:solidFill>
          <a:ln w="9525">
            <a:solidFill>
              <a:srgbClr val="2A2A36"/>
            </a:solidFill>
            <a:prstDash val="solid"/>
          </a:ln>
        </p:spPr>
      </p:sp>
      <p:sp>
        <p:nvSpPr>
          <p:cNvPr id="15" name="Text 13"/>
          <p:cNvSpPr txBox="1"/>
          <p:nvPr/>
        </p:nvSpPr>
        <p:spPr>
          <a:xfrm>
            <a:off x="6528816" y="2057400"/>
            <a:ext cx="1783080" cy="502920"/>
          </a:xfrm>
          <a:prstGeom prst="rect">
            <a:avLst/>
          </a:prstGeom>
          <a:noFill/>
          <a:ln/>
        </p:spPr>
        <p:txBody>
          <a:bodyPr wrap="square" lIns="0" tIns="0" rIns="0" bIns="0" rtlCol="0" anchor="ctr"/>
          <a:lstStyle/>
          <a:p>
            <a:pPr indent="0" marL="0">
              <a:buNone/>
            </a:pPr>
            <a:r>
              <a:rPr lang="en-US" sz="3000" b="1" dirty="0">
                <a:solidFill>
                  <a:srgbClr val="8B7CF6"/>
                </a:solidFill>
                <a:latin typeface="Arial" pitchFamily="34" charset="0"/>
                <a:ea typeface="Arial" pitchFamily="34" charset="-122"/>
                <a:cs typeface="Arial" pitchFamily="34" charset="-120"/>
              </a:rPr>
              <a:t>2007</a:t>
            </a:r>
            <a:endParaRPr lang="en-US" sz="3000" dirty="0"/>
          </a:p>
        </p:txBody>
      </p:sp>
      <p:sp>
        <p:nvSpPr>
          <p:cNvPr id="16" name="Text 14"/>
          <p:cNvSpPr txBox="1"/>
          <p:nvPr/>
        </p:nvSpPr>
        <p:spPr>
          <a:xfrm>
            <a:off x="6528816" y="2788920"/>
            <a:ext cx="1783080" cy="365760"/>
          </a:xfrm>
          <a:prstGeom prst="rect">
            <a:avLst/>
          </a:prstGeom>
          <a:noFill/>
          <a:ln/>
        </p:spPr>
        <p:txBody>
          <a:bodyPr wrap="square" lIns="0" tIns="0" rIns="0" bIns="0" rtlCol="0" anchor="ctr"/>
          <a:lstStyle/>
          <a:p>
            <a:pPr indent="0" marL="0">
              <a:buNone/>
            </a:pPr>
            <a:r>
              <a:rPr lang="en-US" sz="1700" b="1" dirty="0">
                <a:solidFill>
                  <a:srgbClr val="F4F4F6"/>
                </a:solidFill>
                <a:latin typeface="Arial" pitchFamily="34" charset="0"/>
                <a:ea typeface="Arial" pitchFamily="34" charset="-122"/>
                <a:cs typeface="Arial" pitchFamily="34" charset="-120"/>
              </a:rPr>
              <a:t>Black Star</a:t>
            </a:r>
            <a:endParaRPr lang="en-US" sz="1700" dirty="0"/>
          </a:p>
        </p:txBody>
      </p:sp>
      <p:sp>
        <p:nvSpPr>
          <p:cNvPr id="17" name="Text 15"/>
          <p:cNvSpPr txBox="1"/>
          <p:nvPr/>
        </p:nvSpPr>
        <p:spPr>
          <a:xfrm>
            <a:off x="6528816" y="3200400"/>
            <a:ext cx="1783080" cy="502920"/>
          </a:xfrm>
          <a:prstGeom prst="rect">
            <a:avLst/>
          </a:prstGeom>
          <a:noFill/>
          <a:ln/>
        </p:spPr>
        <p:txBody>
          <a:bodyPr wrap="square" lIns="0" tIns="0" rIns="0" bIns="0" rtlCol="0" anchor="t"/>
          <a:lstStyle/>
          <a:p>
            <a:pPr indent="0" marL="0">
              <a:buNone/>
            </a:pPr>
            <a:r>
              <a:rPr lang="en-US" sz="1200" dirty="0">
                <a:solidFill>
                  <a:srgbClr val="8E8E9C"/>
                </a:solidFill>
                <a:latin typeface="Arial" pitchFamily="34" charset="0"/>
                <a:ea typeface="Arial" pitchFamily="34" charset="-122"/>
                <a:cs typeface="Arial" pitchFamily="34" charset="-120"/>
              </a:rPr>
              <a:t>Контракт с лейблом Тимати</a:t>
            </a:r>
            <a:endParaRPr lang="en-US" sz="1200" dirty="0"/>
          </a:p>
        </p:txBody>
      </p:sp>
      <p:pic>
        <p:nvPicPr>
          <p:cNvPr id="18" name="Image 0" descr="Мем: мой безработный друг — пока на расслабоне, на чиле">    </p:cNvPr>
          <p:cNvPicPr>
            <a:picLocks noChangeAspect="1"/>
          </p:cNvPicPr>
          <p:nvPr/>
        </p:nvPicPr>
        <p:blipFill>
          <a:blip r:embed="rId1"/>
          <a:stretch>
            <a:fillRect/>
          </a:stretch>
        </p:blipFill>
        <p:spPr>
          <a:xfrm rot="300000">
            <a:off x="7178040" y="274320"/>
            <a:ext cx="1371600" cy="1237906"/>
          </a:xfrm>
          <a:prstGeom prst="rect">
            <a:avLst/>
          </a:prstGeom>
        </p:spPr>
      </p:pic>
      <p:sp>
        <p:nvSpPr>
          <p:cNvPr id="19" name="Text 16"/>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BLACK STAR · 2007–2013</a:t>
            </a:r>
            <a:endParaRPr lang="en-US" sz="1000" dirty="0"/>
          </a:p>
        </p:txBody>
      </p:sp>
      <p:sp>
        <p:nvSpPr>
          <p:cNvPr id="3" name="Text 1"/>
          <p:cNvSpPr txBox="1"/>
          <p:nvPr/>
        </p:nvSpPr>
        <p:spPr>
          <a:xfrm>
            <a:off x="548640" y="731520"/>
            <a:ext cx="8046720" cy="822960"/>
          </a:xfrm>
          <a:prstGeom prst="rect">
            <a:avLst/>
          </a:prstGeom>
          <a:noFill/>
          <a:ln/>
        </p:spPr>
        <p:txBody>
          <a:bodyPr wrap="square" lIns="0" tIns="0" rIns="0" bIns="0" rtlCol="0" anchor="t"/>
          <a:lstStyle/>
          <a:p>
            <a:pPr indent="0" marL="0">
              <a:buNone/>
            </a:pPr>
            <a:r>
              <a:rPr lang="en-US" sz="3400" b="1" dirty="0">
                <a:solidFill>
                  <a:srgbClr val="F4F4F6"/>
                </a:solidFill>
                <a:latin typeface="Arial" pitchFamily="34" charset="0"/>
                <a:ea typeface="Arial" pitchFamily="34" charset="-122"/>
                <a:cs typeface="Arial" pitchFamily="34" charset="-120"/>
              </a:rPr>
              <a:t>Формула хита</a:t>
            </a:r>
            <a:endParaRPr lang="en-US" sz="3400" dirty="0"/>
          </a:p>
        </p:txBody>
      </p:sp>
      <p:sp>
        <p:nvSpPr>
          <p:cNvPr id="4" name="Shape 2"/>
          <p:cNvSpPr/>
          <p:nvPr/>
        </p:nvSpPr>
        <p:spPr>
          <a:xfrm>
            <a:off x="548640" y="1691640"/>
            <a:ext cx="2011680" cy="777240"/>
          </a:xfrm>
          <a:prstGeom prst="roundRect">
            <a:avLst>
              <a:gd name="adj" fmla="val 9412"/>
            </a:avLst>
          </a:prstGeom>
          <a:solidFill>
            <a:srgbClr val="15151D"/>
          </a:solidFill>
          <a:ln w="9525">
            <a:solidFill>
              <a:srgbClr val="2A2A36"/>
            </a:solidFill>
            <a:prstDash val="solid"/>
          </a:ln>
        </p:spPr>
      </p:sp>
      <p:sp>
        <p:nvSpPr>
          <p:cNvPr id="5" name="Text 3"/>
          <p:cNvSpPr txBox="1"/>
          <p:nvPr/>
        </p:nvSpPr>
        <p:spPr>
          <a:xfrm>
            <a:off x="548640" y="1691640"/>
            <a:ext cx="2011680" cy="77724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Рэп-куплет</a:t>
            </a:r>
            <a:endParaRPr lang="en-US" sz="1800" dirty="0"/>
          </a:p>
        </p:txBody>
      </p:sp>
      <p:sp>
        <p:nvSpPr>
          <p:cNvPr id="6" name="Text 4"/>
          <p:cNvSpPr txBox="1"/>
          <p:nvPr/>
        </p:nvSpPr>
        <p:spPr>
          <a:xfrm>
            <a:off x="2560320" y="1691640"/>
            <a:ext cx="548640" cy="777240"/>
          </a:xfrm>
          <a:prstGeom prst="rect">
            <a:avLst/>
          </a:prstGeom>
          <a:noFill/>
          <a:ln/>
        </p:spPr>
        <p:txBody>
          <a:bodyPr wrap="square" lIns="0" tIns="0" rIns="0" bIns="0" rtlCol="0" anchor="ctr"/>
          <a:lstStyle/>
          <a:p>
            <a:pPr algn="ctr" indent="0" marL="0">
              <a:buNone/>
            </a:pPr>
            <a:r>
              <a:rPr lang="en-US" sz="2400" dirty="0">
                <a:solidFill>
                  <a:srgbClr val="8E8E9C"/>
                </a:solidFill>
                <a:latin typeface="Arial" pitchFamily="34" charset="0"/>
                <a:ea typeface="Arial" pitchFamily="34" charset="-122"/>
                <a:cs typeface="Arial" pitchFamily="34" charset="-120"/>
              </a:rPr>
              <a:t>+</a:t>
            </a:r>
            <a:endParaRPr lang="en-US" sz="2400" dirty="0"/>
          </a:p>
        </p:txBody>
      </p:sp>
      <p:sp>
        <p:nvSpPr>
          <p:cNvPr id="7" name="Shape 5"/>
          <p:cNvSpPr/>
          <p:nvPr/>
        </p:nvSpPr>
        <p:spPr>
          <a:xfrm>
            <a:off x="3108960" y="1691640"/>
            <a:ext cx="2011680" cy="777240"/>
          </a:xfrm>
          <a:prstGeom prst="roundRect">
            <a:avLst>
              <a:gd name="adj" fmla="val 9412"/>
            </a:avLst>
          </a:prstGeom>
          <a:solidFill>
            <a:srgbClr val="15151D"/>
          </a:solidFill>
          <a:ln w="9525">
            <a:solidFill>
              <a:srgbClr val="2A2A36"/>
            </a:solidFill>
            <a:prstDash val="solid"/>
          </a:ln>
        </p:spPr>
      </p:sp>
      <p:sp>
        <p:nvSpPr>
          <p:cNvPr id="8" name="Text 6"/>
          <p:cNvSpPr txBox="1"/>
          <p:nvPr/>
        </p:nvSpPr>
        <p:spPr>
          <a:xfrm>
            <a:off x="3108960" y="1691640"/>
            <a:ext cx="2011680" cy="77724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Поп-припев</a:t>
            </a:r>
            <a:endParaRPr lang="en-US" sz="1800" dirty="0"/>
          </a:p>
        </p:txBody>
      </p:sp>
      <p:sp>
        <p:nvSpPr>
          <p:cNvPr id="9" name="Text 7"/>
          <p:cNvSpPr txBox="1"/>
          <p:nvPr/>
        </p:nvSpPr>
        <p:spPr>
          <a:xfrm>
            <a:off x="5120640" y="1691640"/>
            <a:ext cx="548640" cy="777240"/>
          </a:xfrm>
          <a:prstGeom prst="rect">
            <a:avLst/>
          </a:prstGeom>
          <a:noFill/>
          <a:ln/>
        </p:spPr>
        <p:txBody>
          <a:bodyPr wrap="square" lIns="0" tIns="0" rIns="0" bIns="0" rtlCol="0" anchor="ctr"/>
          <a:lstStyle/>
          <a:p>
            <a:pPr algn="ctr" indent="0" marL="0">
              <a:buNone/>
            </a:pPr>
            <a:r>
              <a:rPr lang="en-US" sz="2400" dirty="0">
                <a:solidFill>
                  <a:srgbClr val="8E8E9C"/>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5669280" y="1691640"/>
            <a:ext cx="2011680" cy="777240"/>
          </a:xfrm>
          <a:prstGeom prst="roundRect">
            <a:avLst>
              <a:gd name="adj" fmla="val 9412"/>
            </a:avLst>
          </a:prstGeom>
          <a:solidFill>
            <a:srgbClr val="231F3D"/>
          </a:solidFill>
          <a:ln w="9525">
            <a:solidFill>
              <a:srgbClr val="2A2A36"/>
            </a:solidFill>
            <a:prstDash val="solid"/>
          </a:ln>
        </p:spPr>
      </p:sp>
      <p:sp>
        <p:nvSpPr>
          <p:cNvPr id="11" name="Text 9"/>
          <p:cNvSpPr txBox="1"/>
          <p:nvPr/>
        </p:nvSpPr>
        <p:spPr>
          <a:xfrm>
            <a:off x="5669280" y="1691640"/>
            <a:ext cx="2011680" cy="77724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Хит</a:t>
            </a:r>
            <a:endParaRPr lang="en-US" sz="1800" dirty="0"/>
          </a:p>
        </p:txBody>
      </p:sp>
      <p:sp>
        <p:nvSpPr>
          <p:cNvPr id="12" name="Text 10"/>
          <p:cNvSpPr txBox="1"/>
          <p:nvPr/>
        </p:nvSpPr>
        <p:spPr>
          <a:xfrm>
            <a:off x="548640" y="2926080"/>
            <a:ext cx="4754880" cy="822960"/>
          </a:xfrm>
          <a:prstGeom prst="rect">
            <a:avLst/>
          </a:prstGeom>
          <a:noFill/>
          <a:ln/>
        </p:spPr>
        <p:txBody>
          <a:bodyPr wrap="square" lIns="0" tIns="0" rIns="0" bIns="0" rtlCol="0" anchor="t"/>
          <a:lstStyle/>
          <a:p>
            <a:pPr indent="0" marL="0">
              <a:spcAft>
                <a:spcPts val="800"/>
              </a:spcAft>
              <a:buNone/>
            </a:pPr>
            <a:r>
              <a:rPr lang="en-US" sz="1500" b="1" dirty="0">
                <a:solidFill>
                  <a:srgbClr val="F4F4F6"/>
                </a:solidFill>
                <a:latin typeface="Arial" pitchFamily="34" charset="0"/>
                <a:ea typeface="Arial" pitchFamily="34" charset="-122"/>
                <a:cs typeface="Arial" pitchFamily="34" charset="-120"/>
              </a:rPr>
              <a:t>«Холодное сердце»</a:t>
            </a:r>
            <a:pPr indent="0" marL="0">
              <a:spcAft>
                <a:spcPts val="800"/>
              </a:spcAft>
              <a:buNone/>
            </a:pPr>
            <a:r>
              <a:rPr lang="en-US" sz="1500" dirty="0">
                <a:solidFill>
                  <a:srgbClr val="8E8E9C"/>
                </a:solidFill>
                <a:latin typeface="Arial" pitchFamily="34" charset="0"/>
                <a:ea typeface="Arial" pitchFamily="34" charset="-122"/>
                <a:cs typeface="Arial" pitchFamily="34" charset="-120"/>
              </a:rPr>
              <a:t>  с Анной Седоковой</a:t>
            </a:r>
            <a:endParaRPr lang="en-US" sz="1500" dirty="0"/>
          </a:p>
          <a:p>
            <a:pPr indent="0" marL="0">
              <a:spcAft>
                <a:spcPts val="800"/>
              </a:spcAft>
              <a:buNone/>
            </a:pPr>
            <a:r>
              <a:rPr lang="en-US" sz="1500" b="1" dirty="0">
                <a:solidFill>
                  <a:srgbClr val="F4F4F6"/>
                </a:solidFill>
                <a:latin typeface="Arial" pitchFamily="34" charset="0"/>
                <a:ea typeface="Arial" pitchFamily="34" charset="-122"/>
                <a:cs typeface="Arial" pitchFamily="34" charset="-120"/>
              </a:rPr>
              <a:t>«Отпусти», 2011</a:t>
            </a:r>
            <a:pPr indent="0" marL="0">
              <a:spcAft>
                <a:spcPts val="800"/>
              </a:spcAft>
              <a:buNone/>
            </a:pPr>
            <a:r>
              <a:rPr lang="en-US" sz="1500" dirty="0">
                <a:solidFill>
                  <a:srgbClr val="8E8E9C"/>
                </a:solidFill>
                <a:latin typeface="Arial" pitchFamily="34" charset="0"/>
                <a:ea typeface="Arial" pitchFamily="34" charset="-122"/>
                <a:cs typeface="Arial" pitchFamily="34" charset="-120"/>
              </a:rPr>
              <a:t>  с Юлией Савичевой</a:t>
            </a:r>
            <a:endParaRPr lang="en-US" sz="1500" dirty="0"/>
          </a:p>
        </p:txBody>
      </p:sp>
      <p:sp>
        <p:nvSpPr>
          <p:cNvPr id="13" name="Text 11"/>
          <p:cNvSpPr txBox="1"/>
          <p:nvPr/>
        </p:nvSpPr>
        <p:spPr>
          <a:xfrm>
            <a:off x="548640" y="3840480"/>
            <a:ext cx="4754880" cy="274320"/>
          </a:xfrm>
          <a:prstGeom prst="rect">
            <a:avLst/>
          </a:prstGeom>
          <a:noFill/>
          <a:ln/>
        </p:spPr>
        <p:txBody>
          <a:bodyPr wrap="square" lIns="0" tIns="0" rIns="0" bIns="0" rtlCol="0" anchor="ctr"/>
          <a:lstStyle/>
          <a:p>
            <a:pPr indent="0" marL="0">
              <a:buNone/>
            </a:pPr>
            <a:r>
              <a:rPr lang="en-US" sz="1200" dirty="0">
                <a:solidFill>
                  <a:srgbClr val="8B7CF6"/>
                </a:solidFill>
                <a:latin typeface="Arial" pitchFamily="34" charset="0"/>
                <a:ea typeface="Arial" pitchFamily="34" charset="-122"/>
                <a:cs typeface="Arial" pitchFamily="34" charset="-120"/>
              </a:rPr>
              <a:t>«Золотой граммофон» · «Песня года»</a:t>
            </a:r>
            <a:endParaRPr lang="en-US" sz="1200" dirty="0"/>
          </a:p>
        </p:txBody>
      </p:sp>
      <p:sp>
        <p:nvSpPr>
          <p:cNvPr id="14" name="Text 12"/>
          <p:cNvSpPr txBox="1"/>
          <p:nvPr/>
        </p:nvSpPr>
        <p:spPr>
          <a:xfrm>
            <a:off x="5943600" y="2788920"/>
            <a:ext cx="2651760" cy="1463040"/>
          </a:xfrm>
          <a:prstGeom prst="rect">
            <a:avLst/>
          </a:prstGeom>
          <a:noFill/>
          <a:ln/>
        </p:spPr>
        <p:txBody>
          <a:bodyPr wrap="square" lIns="0" tIns="0" rIns="0" bIns="0" rtlCol="0" anchor="t"/>
          <a:lstStyle/>
          <a:p>
            <a:pPr indent="0" marL="0">
              <a:buNone/>
            </a:pPr>
            <a:r>
              <a:rPr lang="en-US" sz="6400" b="1" dirty="0">
                <a:solidFill>
                  <a:srgbClr val="8B7CF6"/>
                </a:solidFill>
                <a:latin typeface="Arial" pitchFamily="34" charset="0"/>
                <a:ea typeface="Arial" pitchFamily="34" charset="-122"/>
                <a:cs typeface="Arial" pitchFamily="34" charset="-120"/>
              </a:rPr>
              <a:t>2</a:t>
            </a:r>
            <a:endParaRPr lang="en-US" sz="6400" dirty="0"/>
          </a:p>
          <a:p>
            <a:pPr indent="0" marL="0">
              <a:buNone/>
            </a:pPr>
            <a:r>
              <a:rPr lang="en-US" sz="1200" dirty="0">
                <a:solidFill>
                  <a:srgbClr val="8E8E9C"/>
                </a:solidFill>
                <a:latin typeface="Arial" pitchFamily="34" charset="0"/>
                <a:ea typeface="Arial" pitchFamily="34" charset="-122"/>
                <a:cs typeface="Arial" pitchFamily="34" charset="-120"/>
              </a:rPr>
              <a:t>артиста приносили лейблу основные деньги: Тимати и Джиган</a:t>
            </a:r>
            <a:endParaRPr lang="en-US" sz="6400" dirty="0"/>
          </a:p>
        </p:txBody>
      </p:sp>
      <p:pic>
        <p:nvPicPr>
          <p:cNvPr id="15" name="Image 0" descr="Мем: огромная очередь, второй кассир — пока на расслабоне, на чиле">    </p:cNvPr>
          <p:cNvPicPr>
            <a:picLocks noChangeAspect="1"/>
          </p:cNvPicPr>
          <p:nvPr/>
        </p:nvPicPr>
        <p:blipFill>
          <a:blip r:embed="rId1"/>
          <a:stretch>
            <a:fillRect/>
          </a:stretch>
        </p:blipFill>
        <p:spPr>
          <a:xfrm rot="-240000">
            <a:off x="7269480" y="228600"/>
            <a:ext cx="1325880" cy="1325880"/>
          </a:xfrm>
          <a:prstGeom prst="rect">
            <a:avLst/>
          </a:prstGeom>
        </p:spPr>
      </p:pic>
      <p:sp>
        <p:nvSpPr>
          <p:cNvPr id="16" name="Text 13"/>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САМОСТОЯТЕЛЬНОСТЬ · 2012–2016</a:t>
            </a:r>
            <a:endParaRPr lang="en-US" sz="1000" dirty="0"/>
          </a:p>
        </p:txBody>
      </p:sp>
      <p:pic>
        <p:nvPicPr>
          <p:cNvPr id="3" name="Image 0" descr="Джиган на сцене в Витебске, 2016">    </p:cNvPr>
          <p:cNvPicPr>
            <a:picLocks noChangeAspect="1"/>
          </p:cNvPicPr>
          <p:nvPr/>
        </p:nvPicPr>
        <p:blipFill>
          <a:blip r:embed="rId1"/>
          <a:stretch>
            <a:fillRect/>
          </a:stretch>
        </p:blipFill>
        <p:spPr>
          <a:xfrm>
            <a:off x="5303520" y="0"/>
            <a:ext cx="3840480" cy="5143500"/>
          </a:xfrm>
          <a:prstGeom prst="rect">
            <a:avLst/>
          </a:prstGeom>
        </p:spPr>
      </p:pic>
      <p:sp>
        <p:nvSpPr>
          <p:cNvPr id="4" name="Shape 1"/>
          <p:cNvSpPr/>
          <p:nvPr/>
        </p:nvSpPr>
        <p:spPr>
          <a:xfrm>
            <a:off x="5303520" y="4869180"/>
            <a:ext cx="3840480" cy="274320"/>
          </a:xfrm>
          <a:prstGeom prst="rect">
            <a:avLst/>
          </a:prstGeom>
          <a:solidFill>
            <a:srgbClr val="000000">
              <a:alpha val="55000"/>
            </a:srgbClr>
          </a:solidFill>
          <a:ln/>
        </p:spPr>
      </p:sp>
      <p:sp>
        <p:nvSpPr>
          <p:cNvPr id="5" name="Text 2"/>
          <p:cNvSpPr txBox="1"/>
          <p:nvPr/>
        </p:nvSpPr>
        <p:spPr>
          <a:xfrm>
            <a:off x="5440680" y="4869180"/>
            <a:ext cx="3566160" cy="274320"/>
          </a:xfrm>
          <a:prstGeom prst="rect">
            <a:avLst/>
          </a:prstGeom>
          <a:noFill/>
          <a:ln/>
        </p:spPr>
        <p:txBody>
          <a:bodyPr wrap="square" lIns="0" tIns="0" rIns="0" bIns="0" rtlCol="0" anchor="ctr"/>
          <a:lstStyle/>
          <a:p>
            <a:pPr algn="r" indent="0" marL="0">
              <a:buNone/>
            </a:pPr>
            <a:r>
              <a:rPr lang="en-US" sz="700" dirty="0">
                <a:solidFill>
                  <a:srgbClr val="E6E6EC"/>
                </a:solidFill>
                <a:latin typeface="Arial" pitchFamily="34" charset="0"/>
                <a:ea typeface="Arial" pitchFamily="34" charset="-122"/>
                <a:cs typeface="Arial" pitchFamily="34" charset="-120"/>
              </a:rPr>
              <a:t>Витебск, 2016 · Фото: Okras, CC BY-SA 4.0</a:t>
            </a:r>
            <a:endParaRPr lang="en-US" sz="700" dirty="0"/>
          </a:p>
        </p:txBody>
      </p:sp>
      <p:sp>
        <p:nvSpPr>
          <p:cNvPr id="6" name="Text 3"/>
          <p:cNvSpPr txBox="1"/>
          <p:nvPr/>
        </p:nvSpPr>
        <p:spPr>
          <a:xfrm>
            <a:off x="548640" y="731520"/>
            <a:ext cx="4480560" cy="1188720"/>
          </a:xfrm>
          <a:prstGeom prst="rect">
            <a:avLst/>
          </a:prstGeom>
          <a:noFill/>
          <a:ln/>
        </p:spPr>
        <p:txBody>
          <a:bodyPr wrap="square" lIns="0" tIns="0" rIns="0" bIns="0" rtlCol="0" anchor="t"/>
          <a:lstStyle/>
          <a:p>
            <a:pPr indent="0" marL="0">
              <a:buNone/>
            </a:pPr>
            <a:r>
              <a:rPr lang="en-US" sz="3400" b="1" dirty="0">
                <a:solidFill>
                  <a:srgbClr val="F4F4F6"/>
                </a:solidFill>
                <a:latin typeface="Arial" pitchFamily="34" charset="0"/>
                <a:ea typeface="Arial" pitchFamily="34" charset="-122"/>
                <a:cs typeface="Arial" pitchFamily="34" charset="-120"/>
              </a:rPr>
              <a:t>Уход с лейбла —</a:t>
            </a:r>
            <a:endParaRPr lang="en-US" sz="3400" dirty="0"/>
          </a:p>
          <a:p>
            <a:pPr indent="0" marL="0">
              <a:buNone/>
            </a:pPr>
            <a:r>
              <a:rPr lang="en-US" sz="3400" b="1" dirty="0">
                <a:solidFill>
                  <a:srgbClr val="F4F4F6"/>
                </a:solidFill>
                <a:latin typeface="Arial" pitchFamily="34" charset="0"/>
                <a:ea typeface="Arial" pitchFamily="34" charset="-122"/>
                <a:cs typeface="Arial" pitchFamily="34" charset="-120"/>
              </a:rPr>
              <a:t>и не забвение</a:t>
            </a:r>
            <a:endParaRPr lang="en-US" sz="3400" dirty="0"/>
          </a:p>
        </p:txBody>
      </p:sp>
      <p:sp>
        <p:nvSpPr>
          <p:cNvPr id="7" name="Shape 4"/>
          <p:cNvSpPr/>
          <p:nvPr/>
        </p:nvSpPr>
        <p:spPr>
          <a:xfrm>
            <a:off x="548640" y="2194560"/>
            <a:ext cx="128016" cy="128016"/>
          </a:xfrm>
          <a:prstGeom prst="ellipse">
            <a:avLst/>
          </a:prstGeom>
          <a:solidFill>
            <a:srgbClr val="8E8E9C"/>
          </a:solidFill>
          <a:ln w="12700">
            <a:solidFill>
              <a:srgbClr val="8E8E9C"/>
            </a:solidFill>
            <a:prstDash val="solid"/>
          </a:ln>
        </p:spPr>
      </p:sp>
      <p:sp>
        <p:nvSpPr>
          <p:cNvPr id="8" name="Text 5"/>
          <p:cNvSpPr txBox="1"/>
          <p:nvPr/>
        </p:nvSpPr>
        <p:spPr>
          <a:xfrm>
            <a:off x="868680" y="2103120"/>
            <a:ext cx="4114800" cy="310896"/>
          </a:xfrm>
          <a:prstGeom prst="rect">
            <a:avLst/>
          </a:prstGeom>
          <a:noFill/>
          <a:ln/>
        </p:spPr>
        <p:txBody>
          <a:bodyPr wrap="square" lIns="0" tIns="0" rIns="0" bIns="0" rtlCol="0" anchor="ctr"/>
          <a:lstStyle/>
          <a:p>
            <a:pPr indent="0" marL="0">
              <a:buNone/>
            </a:pPr>
            <a:r>
              <a:rPr lang="en-US" sz="1500" b="1" dirty="0">
                <a:solidFill>
                  <a:srgbClr val="F4F4F6"/>
                </a:solidFill>
                <a:latin typeface="Arial" pitchFamily="34" charset="0"/>
                <a:ea typeface="Arial" pitchFamily="34" charset="-122"/>
                <a:cs typeface="Arial" pitchFamily="34" charset="-120"/>
              </a:rPr>
              <a:t>«Холодное сердце»</a:t>
            </a:r>
            <a:pPr indent="0" marL="0">
              <a:buNone/>
            </a:pPr>
            <a:r>
              <a:rPr lang="en-US" sz="1200" dirty="0">
                <a:solidFill>
                  <a:srgbClr val="8E8E9C"/>
                </a:solidFill>
                <a:latin typeface="Arial" pitchFamily="34" charset="0"/>
                <a:ea typeface="Arial" pitchFamily="34" charset="-122"/>
                <a:cs typeface="Arial" pitchFamily="34" charset="-120"/>
              </a:rPr>
              <a:t>   дебют</a:t>
            </a:r>
            <a:endParaRPr lang="en-US" sz="1500" dirty="0"/>
          </a:p>
        </p:txBody>
      </p:sp>
      <p:sp>
        <p:nvSpPr>
          <p:cNvPr id="9" name="Shape 6"/>
          <p:cNvSpPr/>
          <p:nvPr/>
        </p:nvSpPr>
        <p:spPr>
          <a:xfrm>
            <a:off x="548640" y="2615184"/>
            <a:ext cx="128016" cy="128016"/>
          </a:xfrm>
          <a:prstGeom prst="ellipse">
            <a:avLst/>
          </a:prstGeom>
          <a:solidFill>
            <a:srgbClr val="8E8E9C"/>
          </a:solidFill>
          <a:ln w="12700">
            <a:solidFill>
              <a:srgbClr val="8E8E9C"/>
            </a:solidFill>
            <a:prstDash val="solid"/>
          </a:ln>
        </p:spPr>
      </p:sp>
      <p:sp>
        <p:nvSpPr>
          <p:cNvPr id="10" name="Text 7"/>
          <p:cNvSpPr txBox="1"/>
          <p:nvPr/>
        </p:nvSpPr>
        <p:spPr>
          <a:xfrm>
            <a:off x="868680" y="2523744"/>
            <a:ext cx="4114800" cy="310896"/>
          </a:xfrm>
          <a:prstGeom prst="rect">
            <a:avLst/>
          </a:prstGeom>
          <a:noFill/>
          <a:ln/>
        </p:spPr>
        <p:txBody>
          <a:bodyPr wrap="square" lIns="0" tIns="0" rIns="0" bIns="0" rtlCol="0" anchor="ctr"/>
          <a:lstStyle/>
          <a:p>
            <a:pPr indent="0" marL="0">
              <a:buNone/>
            </a:pPr>
            <a:r>
              <a:rPr lang="en-US" sz="1500" b="1" dirty="0">
                <a:solidFill>
                  <a:srgbClr val="F4F4F6"/>
                </a:solidFill>
                <a:latin typeface="Arial" pitchFamily="34" charset="0"/>
                <a:ea typeface="Arial" pitchFamily="34" charset="-122"/>
                <a:cs typeface="Arial" pitchFamily="34" charset="-120"/>
              </a:rPr>
              <a:t>«Музыка. Жизнь»</a:t>
            </a:r>
            <a:pPr indent="0" marL="0">
              <a:buNone/>
            </a:pPr>
            <a:r>
              <a:rPr lang="en-US" sz="1200" dirty="0">
                <a:solidFill>
                  <a:srgbClr val="8E8E9C"/>
                </a:solidFill>
                <a:latin typeface="Arial" pitchFamily="34" charset="0"/>
                <a:ea typeface="Arial" pitchFamily="34" charset="-122"/>
                <a:cs typeface="Arial" pitchFamily="34" charset="-120"/>
              </a:rPr>
              <a:t>   2-й альбом</a:t>
            </a:r>
            <a:endParaRPr lang="en-US" sz="1500" dirty="0"/>
          </a:p>
        </p:txBody>
      </p:sp>
      <p:sp>
        <p:nvSpPr>
          <p:cNvPr id="11" name="Shape 8"/>
          <p:cNvSpPr/>
          <p:nvPr/>
        </p:nvSpPr>
        <p:spPr>
          <a:xfrm>
            <a:off x="548640" y="3035808"/>
            <a:ext cx="128016" cy="128016"/>
          </a:xfrm>
          <a:prstGeom prst="ellipse">
            <a:avLst/>
          </a:prstGeom>
          <a:solidFill>
            <a:srgbClr val="8B7CF6"/>
          </a:solidFill>
          <a:ln w="12700">
            <a:solidFill>
              <a:srgbClr val="8B7CF6"/>
            </a:solidFill>
            <a:prstDash val="solid"/>
          </a:ln>
        </p:spPr>
      </p:sp>
      <p:sp>
        <p:nvSpPr>
          <p:cNvPr id="12" name="Text 9"/>
          <p:cNvSpPr txBox="1"/>
          <p:nvPr/>
        </p:nvSpPr>
        <p:spPr>
          <a:xfrm>
            <a:off x="868680" y="2944368"/>
            <a:ext cx="4114800" cy="310896"/>
          </a:xfrm>
          <a:prstGeom prst="rect">
            <a:avLst/>
          </a:prstGeom>
          <a:noFill/>
          <a:ln/>
        </p:spPr>
        <p:txBody>
          <a:bodyPr wrap="square" lIns="0" tIns="0" rIns="0" bIns="0" rtlCol="0" anchor="ctr"/>
          <a:lstStyle/>
          <a:p>
            <a:pPr indent="0" marL="0">
              <a:buNone/>
            </a:pPr>
            <a:r>
              <a:rPr lang="en-US" sz="1500" b="1" dirty="0">
                <a:solidFill>
                  <a:srgbClr val="F4F4F6"/>
                </a:solidFill>
                <a:latin typeface="Arial" pitchFamily="34" charset="0"/>
                <a:ea typeface="Arial" pitchFamily="34" charset="-122"/>
                <a:cs typeface="Arial" pitchFamily="34" charset="-120"/>
              </a:rPr>
              <a:t>«Твой выбор»</a:t>
            </a:r>
            <a:pPr indent="0" marL="0">
              <a:buNone/>
            </a:pPr>
            <a:r>
              <a:rPr lang="en-US" sz="1200" dirty="0">
                <a:solidFill>
                  <a:srgbClr val="8E8E9C"/>
                </a:solidFill>
                <a:latin typeface="Arial" pitchFamily="34" charset="0"/>
                <a:ea typeface="Arial" pitchFamily="34" charset="-122"/>
                <a:cs typeface="Arial" pitchFamily="34" charset="-120"/>
              </a:rPr>
              <a:t>   после ухода</a:t>
            </a:r>
            <a:endParaRPr lang="en-US" sz="1500" dirty="0"/>
          </a:p>
        </p:txBody>
      </p:sp>
      <p:sp>
        <p:nvSpPr>
          <p:cNvPr id="13" name="Shape 10"/>
          <p:cNvSpPr/>
          <p:nvPr/>
        </p:nvSpPr>
        <p:spPr>
          <a:xfrm>
            <a:off x="548640" y="3456432"/>
            <a:ext cx="128016" cy="128016"/>
          </a:xfrm>
          <a:prstGeom prst="ellipse">
            <a:avLst/>
          </a:prstGeom>
          <a:solidFill>
            <a:srgbClr val="8B7CF6"/>
          </a:solidFill>
          <a:ln w="12700">
            <a:solidFill>
              <a:srgbClr val="8B7CF6"/>
            </a:solidFill>
            <a:prstDash val="solid"/>
          </a:ln>
        </p:spPr>
      </p:sp>
      <p:sp>
        <p:nvSpPr>
          <p:cNvPr id="14" name="Text 11"/>
          <p:cNvSpPr txBox="1"/>
          <p:nvPr/>
        </p:nvSpPr>
        <p:spPr>
          <a:xfrm>
            <a:off x="868680" y="3364992"/>
            <a:ext cx="4114800" cy="310896"/>
          </a:xfrm>
          <a:prstGeom prst="rect">
            <a:avLst/>
          </a:prstGeom>
          <a:noFill/>
          <a:ln/>
        </p:spPr>
        <p:txBody>
          <a:bodyPr wrap="square" lIns="0" tIns="0" rIns="0" bIns="0" rtlCol="0" anchor="ctr"/>
          <a:lstStyle/>
          <a:p>
            <a:pPr indent="0" marL="0">
              <a:buNone/>
            </a:pPr>
            <a:r>
              <a:rPr lang="en-US" sz="1500" b="1" dirty="0">
                <a:solidFill>
                  <a:srgbClr val="F4F4F6"/>
                </a:solidFill>
                <a:latin typeface="Arial" pitchFamily="34" charset="0"/>
                <a:ea typeface="Arial" pitchFamily="34" charset="-122"/>
                <a:cs typeface="Arial" pitchFamily="34" charset="-120"/>
              </a:rPr>
              <a:t>«Джига»</a:t>
            </a:r>
            <a:pPr indent="0" marL="0">
              <a:buNone/>
            </a:pPr>
            <a:r>
              <a:rPr lang="en-US" sz="1200" dirty="0">
                <a:solidFill>
                  <a:srgbClr val="8E8E9C"/>
                </a:solidFill>
                <a:latin typeface="Arial" pitchFamily="34" charset="0"/>
                <a:ea typeface="Arial" pitchFamily="34" charset="-122"/>
                <a:cs typeface="Arial" pitchFamily="34" charset="-120"/>
              </a:rPr>
              <a:t>   южный звук</a:t>
            </a:r>
            <a:endParaRPr lang="en-US" sz="1500" dirty="0"/>
          </a:p>
        </p:txBody>
      </p:sp>
      <p:sp>
        <p:nvSpPr>
          <p:cNvPr id="15" name="Shape 12"/>
          <p:cNvSpPr/>
          <p:nvPr/>
        </p:nvSpPr>
        <p:spPr>
          <a:xfrm>
            <a:off x="548640" y="3931920"/>
            <a:ext cx="4297680" cy="594360"/>
          </a:xfrm>
          <a:prstGeom prst="roundRect">
            <a:avLst>
              <a:gd name="adj" fmla="val 12308"/>
            </a:avLst>
          </a:prstGeom>
          <a:solidFill>
            <a:srgbClr val="231F3D"/>
          </a:solidFill>
          <a:ln w="9525">
            <a:solidFill>
              <a:srgbClr val="2A2A36"/>
            </a:solidFill>
            <a:prstDash val="solid"/>
          </a:ln>
        </p:spPr>
      </p:sp>
      <p:sp>
        <p:nvSpPr>
          <p:cNvPr id="16" name="Text 13"/>
          <p:cNvSpPr txBox="1"/>
          <p:nvPr/>
        </p:nvSpPr>
        <p:spPr>
          <a:xfrm>
            <a:off x="731520" y="3931920"/>
            <a:ext cx="4023360" cy="594360"/>
          </a:xfrm>
          <a:prstGeom prst="rect">
            <a:avLst/>
          </a:prstGeom>
          <a:noFill/>
          <a:ln/>
        </p:spPr>
        <p:txBody>
          <a:bodyPr wrap="square" lIns="0" tIns="0" rIns="0" bIns="0" rtlCol="0" anchor="ctr"/>
          <a:lstStyle/>
          <a:p>
            <a:pPr indent="0" marL="0">
              <a:buNone/>
            </a:pPr>
            <a:r>
              <a:rPr lang="en-US" sz="1400" b="1" dirty="0">
                <a:solidFill>
                  <a:srgbClr val="F4F4F6"/>
                </a:solidFill>
                <a:latin typeface="Arial" pitchFamily="34" charset="0"/>
                <a:ea typeface="Arial" pitchFamily="34" charset="-122"/>
                <a:cs typeface="Arial" pitchFamily="34" charset="-120"/>
              </a:rPr>
              <a:t>Слушают имя, а не вывеску лейбла</a:t>
            </a:r>
            <a:endParaRPr lang="en-US" sz="1400" dirty="0"/>
          </a:p>
        </p:txBody>
      </p:sp>
      <p:pic>
        <p:nvPicPr>
          <p:cNvPr id="17" name="Image 1" descr="Мем: сверстники строят карьеру, а я — пока на расслабоне, на чиле">    </p:cNvPr>
          <p:cNvPicPr>
            <a:picLocks noChangeAspect="1"/>
          </p:cNvPicPr>
          <p:nvPr/>
        </p:nvPicPr>
        <p:blipFill>
          <a:blip r:embed="rId2"/>
          <a:stretch>
            <a:fillRect/>
          </a:stretch>
        </p:blipFill>
        <p:spPr>
          <a:xfrm rot="240000">
            <a:off x="3840480" y="1965960"/>
            <a:ext cx="1188720" cy="1664874"/>
          </a:xfrm>
          <a:prstGeom prst="rect">
            <a:avLst/>
          </a:prstGeom>
        </p:spPr>
      </p:pic>
      <p:sp>
        <p:nvSpPr>
          <p:cNvPr id="18" name="Text 14"/>
          <p:cNvSpPr txBox="1"/>
          <p:nvPr/>
        </p:nvSpPr>
        <p:spPr>
          <a:xfrm>
            <a:off x="40233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ПИК ПРИЗНАНИЯ · 2017–2019</a:t>
            </a:r>
            <a:endParaRPr lang="en-US" sz="1000" dirty="0"/>
          </a:p>
        </p:txBody>
      </p:sp>
      <p:sp>
        <p:nvSpPr>
          <p:cNvPr id="3" name="Text 1"/>
          <p:cNvSpPr txBox="1"/>
          <p:nvPr/>
        </p:nvSpPr>
        <p:spPr>
          <a:xfrm>
            <a:off x="548640" y="914400"/>
            <a:ext cx="3840480" cy="2011680"/>
          </a:xfrm>
          <a:prstGeom prst="rect">
            <a:avLst/>
          </a:prstGeom>
          <a:noFill/>
          <a:ln/>
        </p:spPr>
        <p:txBody>
          <a:bodyPr wrap="square" lIns="0" tIns="0" rIns="0" bIns="0" rtlCol="0" anchor="ctr"/>
          <a:lstStyle/>
          <a:p>
            <a:pPr indent="0" marL="0">
              <a:buNone/>
            </a:pPr>
            <a:r>
              <a:rPr lang="en-US" sz="13000" b="1" dirty="0">
                <a:solidFill>
                  <a:srgbClr val="8B7CF6"/>
                </a:solidFill>
                <a:latin typeface="Arial" pitchFamily="34" charset="0"/>
                <a:ea typeface="Arial" pitchFamily="34" charset="-122"/>
                <a:cs typeface="Arial" pitchFamily="34" charset="-120"/>
              </a:rPr>
              <a:t>4×</a:t>
            </a:r>
            <a:endParaRPr lang="en-US" sz="13000" dirty="0"/>
          </a:p>
        </p:txBody>
      </p:sp>
      <p:sp>
        <p:nvSpPr>
          <p:cNvPr id="4" name="Text 2"/>
          <p:cNvSpPr txBox="1"/>
          <p:nvPr/>
        </p:nvSpPr>
        <p:spPr>
          <a:xfrm>
            <a:off x="548640" y="3017520"/>
            <a:ext cx="3840480" cy="731520"/>
          </a:xfrm>
          <a:prstGeom prst="rect">
            <a:avLst/>
          </a:prstGeom>
          <a:noFill/>
          <a:ln/>
        </p:spPr>
        <p:txBody>
          <a:bodyPr wrap="square" lIns="0" tIns="0" rIns="0" bIns="0" rtlCol="0" anchor="t"/>
          <a:lstStyle/>
          <a:p>
            <a:pPr indent="0" marL="0">
              <a:buNone/>
            </a:pPr>
            <a:r>
              <a:rPr lang="en-US" sz="1800" b="1" dirty="0">
                <a:solidFill>
                  <a:srgbClr val="F4F4F6"/>
                </a:solidFill>
                <a:latin typeface="Arial" pitchFamily="34" charset="0"/>
                <a:ea typeface="Arial" pitchFamily="34" charset="-122"/>
                <a:cs typeface="Arial" pitchFamily="34" charset="-120"/>
              </a:rPr>
              <a:t>Муз-ТВ</a:t>
            </a:r>
            <a:endParaRPr lang="en-US" sz="1800" dirty="0"/>
          </a:p>
          <a:p>
            <a:pPr indent="0" marL="0">
              <a:buNone/>
            </a:pPr>
            <a:r>
              <a:rPr lang="en-US" sz="1800" b="1" dirty="0">
                <a:solidFill>
                  <a:srgbClr val="F4F4F6"/>
                </a:solidFill>
                <a:latin typeface="Arial" pitchFamily="34" charset="0"/>
                <a:ea typeface="Arial" pitchFamily="34" charset="-122"/>
                <a:cs typeface="Arial" pitchFamily="34" charset="-120"/>
              </a:rPr>
              <a:t>«Лучший хип-хоп проект»</a:t>
            </a:r>
            <a:endParaRPr lang="en-US" sz="1800" dirty="0"/>
          </a:p>
        </p:txBody>
      </p:sp>
      <p:sp>
        <p:nvSpPr>
          <p:cNvPr id="5" name="Text 3"/>
          <p:cNvSpPr txBox="1"/>
          <p:nvPr/>
        </p:nvSpPr>
        <p:spPr>
          <a:xfrm>
            <a:off x="548640" y="3840480"/>
            <a:ext cx="384048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5 лет подряд в прайм-тайме</a:t>
            </a:r>
            <a:endParaRPr lang="en-US" sz="1200" dirty="0"/>
          </a:p>
        </p:txBody>
      </p:sp>
      <p:sp>
        <p:nvSpPr>
          <p:cNvPr id="6" name="Shape 4"/>
          <p:cNvSpPr/>
          <p:nvPr/>
        </p:nvSpPr>
        <p:spPr>
          <a:xfrm>
            <a:off x="4846320" y="1005840"/>
            <a:ext cx="3749040" cy="1417320"/>
          </a:xfrm>
          <a:prstGeom prst="roundRect">
            <a:avLst>
              <a:gd name="adj" fmla="val 5161"/>
            </a:avLst>
          </a:prstGeom>
          <a:solidFill>
            <a:srgbClr val="231F3D"/>
          </a:solidFill>
          <a:ln w="9525">
            <a:solidFill>
              <a:srgbClr val="2A2A36"/>
            </a:solidFill>
            <a:prstDash val="solid"/>
          </a:ln>
        </p:spPr>
      </p:sp>
      <p:sp>
        <p:nvSpPr>
          <p:cNvPr id="7" name="Text 5"/>
          <p:cNvSpPr txBox="1"/>
          <p:nvPr/>
        </p:nvSpPr>
        <p:spPr>
          <a:xfrm>
            <a:off x="5120640" y="1005840"/>
            <a:ext cx="3291840" cy="1417320"/>
          </a:xfrm>
          <a:prstGeom prst="rect">
            <a:avLst/>
          </a:prstGeom>
          <a:noFill/>
          <a:ln/>
        </p:spPr>
        <p:txBody>
          <a:bodyPr wrap="square" lIns="0" tIns="0" rIns="0" bIns="0" rtlCol="0" anchor="ctr"/>
          <a:lstStyle/>
          <a:p>
            <a:pPr indent="0" marL="0">
              <a:spcAft>
                <a:spcPts val="600"/>
              </a:spcAft>
              <a:buNone/>
            </a:pPr>
            <a:r>
              <a:rPr lang="en-US" sz="2000" b="1" dirty="0">
                <a:solidFill>
                  <a:srgbClr val="F4F4F6"/>
                </a:solidFill>
                <a:latin typeface="Arial" pitchFamily="34" charset="0"/>
                <a:ea typeface="Arial" pitchFamily="34" charset="-122"/>
                <a:cs typeface="Arial" pitchFamily="34" charset="-120"/>
              </a:rPr>
              <a:t>«ДНК», 2018</a:t>
            </a:r>
            <a:endParaRPr lang="en-US" sz="2000" dirty="0"/>
          </a:p>
          <a:p>
            <a:pPr indent="0" marL="0">
              <a:spcAft>
                <a:spcPts val="600"/>
              </a:spcAft>
              <a:buNone/>
            </a:pPr>
            <a:r>
              <a:rPr lang="en-US" sz="1200" dirty="0">
                <a:solidFill>
                  <a:srgbClr val="8E8E9C"/>
                </a:solidFill>
                <a:latin typeface="Arial" pitchFamily="34" charset="0"/>
                <a:ea typeface="Arial" pitchFamily="34" charset="-122"/>
                <a:cs typeface="Arial" pitchFamily="34" charset="-120"/>
              </a:rPr>
              <a:t>с Артёмом Качером · главный радиохит сезона</a:t>
            </a:r>
            <a:endParaRPr lang="en-US" sz="2000" dirty="0"/>
          </a:p>
        </p:txBody>
      </p:sp>
      <p:sp>
        <p:nvSpPr>
          <p:cNvPr id="8" name="Shape 6"/>
          <p:cNvSpPr/>
          <p:nvPr/>
        </p:nvSpPr>
        <p:spPr>
          <a:xfrm>
            <a:off x="4846320" y="2697480"/>
            <a:ext cx="3749040" cy="1417320"/>
          </a:xfrm>
          <a:prstGeom prst="roundRect">
            <a:avLst>
              <a:gd name="adj" fmla="val 5161"/>
            </a:avLst>
          </a:prstGeom>
          <a:solidFill>
            <a:srgbClr val="15151D"/>
          </a:solidFill>
          <a:ln w="9525">
            <a:solidFill>
              <a:srgbClr val="2A2A36"/>
            </a:solidFill>
            <a:prstDash val="solid"/>
          </a:ln>
        </p:spPr>
      </p:sp>
      <p:sp>
        <p:nvSpPr>
          <p:cNvPr id="9" name="Text 7"/>
          <p:cNvSpPr txBox="1"/>
          <p:nvPr/>
        </p:nvSpPr>
        <p:spPr>
          <a:xfrm>
            <a:off x="5120640" y="2697480"/>
            <a:ext cx="3291840" cy="1417320"/>
          </a:xfrm>
          <a:prstGeom prst="rect">
            <a:avLst/>
          </a:prstGeom>
          <a:noFill/>
          <a:ln/>
        </p:spPr>
        <p:txBody>
          <a:bodyPr wrap="square" lIns="0" tIns="0" rIns="0" bIns="0" rtlCol="0" anchor="ctr"/>
          <a:lstStyle/>
          <a:p>
            <a:pPr indent="0" marL="0">
              <a:spcAft>
                <a:spcPts val="600"/>
              </a:spcAft>
              <a:buNone/>
            </a:pPr>
            <a:r>
              <a:rPr lang="en-US" sz="1500" b="1" dirty="0">
                <a:solidFill>
                  <a:srgbClr val="F4F4F6"/>
                </a:solidFill>
                <a:latin typeface="Arial" pitchFamily="34" charset="0"/>
                <a:ea typeface="Arial" pitchFamily="34" charset="-122"/>
                <a:cs typeface="Arial" pitchFamily="34" charset="-120"/>
              </a:rPr>
              <a:t>«Дни и ночи» · «Край рая»</a:t>
            </a:r>
            <a:endParaRPr lang="en-US" sz="1500" dirty="0"/>
          </a:p>
          <a:p>
            <a:pPr indent="0" marL="0">
              <a:spcAft>
                <a:spcPts val="600"/>
              </a:spcAft>
              <a:buNone/>
            </a:pPr>
            <a:r>
              <a:rPr lang="en-US" sz="1200" dirty="0">
                <a:solidFill>
                  <a:srgbClr val="8E8E9C"/>
                </a:solidFill>
                <a:latin typeface="Arial" pitchFamily="34" charset="0"/>
                <a:ea typeface="Arial" pitchFamily="34" charset="-122"/>
                <a:cs typeface="Arial" pitchFamily="34" charset="-120"/>
              </a:rPr>
              <a:t>+ фит с Григорием Лепсом</a:t>
            </a:r>
            <a:endParaRPr lang="en-US" sz="1500" dirty="0"/>
          </a:p>
        </p:txBody>
      </p:sp>
      <p:pic>
        <p:nvPicPr>
          <p:cNvPr id="10" name="Image 0" descr="Мем с котами: Джиган, хватит чилить">    </p:cNvPr>
          <p:cNvPicPr>
            <a:picLocks noChangeAspect="1"/>
          </p:cNvPicPr>
          <p:nvPr/>
        </p:nvPicPr>
        <p:blipFill>
          <a:blip r:embed="rId1"/>
          <a:stretch>
            <a:fillRect/>
          </a:stretch>
        </p:blipFill>
        <p:spPr>
          <a:xfrm rot="-240000">
            <a:off x="2834640" y="1143000"/>
            <a:ext cx="1783080" cy="1358020"/>
          </a:xfrm>
          <a:prstGeom prst="rect">
            <a:avLst/>
          </a:prstGeom>
        </p:spPr>
      </p:pic>
      <p:sp>
        <p:nvSpPr>
          <p:cNvPr id="11" name="Text 8"/>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МЕМЫ И НОВЫЕ ФОРМАТЫ · 2020–2023</a:t>
            </a:r>
            <a:endParaRPr lang="en-US" sz="1000" dirty="0"/>
          </a:p>
        </p:txBody>
      </p:sp>
      <p:sp>
        <p:nvSpPr>
          <p:cNvPr id="3" name="Text 1"/>
          <p:cNvSpPr txBox="1"/>
          <p:nvPr/>
        </p:nvSpPr>
        <p:spPr>
          <a:xfrm>
            <a:off x="548640" y="731520"/>
            <a:ext cx="8046720" cy="822960"/>
          </a:xfrm>
          <a:prstGeom prst="rect">
            <a:avLst/>
          </a:prstGeom>
          <a:noFill/>
          <a:ln/>
        </p:spPr>
        <p:txBody>
          <a:bodyPr wrap="square" lIns="0" tIns="0" rIns="0" bIns="0" rtlCol="0" anchor="t"/>
          <a:lstStyle/>
          <a:p>
            <a:pPr indent="0" marL="0">
              <a:buNone/>
            </a:pPr>
            <a:r>
              <a:rPr lang="en-US" sz="3200" b="1" dirty="0">
                <a:solidFill>
                  <a:srgbClr val="F4F4F6"/>
                </a:solidFill>
                <a:latin typeface="Arial" pitchFamily="34" charset="0"/>
                <a:ea typeface="Arial" pitchFamily="34" charset="-122"/>
                <a:cs typeface="Arial" pitchFamily="34" charset="-120"/>
              </a:rPr>
              <a:t>Праймовый Джиган</a:t>
            </a:r>
            <a:endParaRPr lang="en-US" sz="3200" dirty="0"/>
          </a:p>
        </p:txBody>
      </p:sp>
      <p:pic>
        <p:nvPicPr>
          <p:cNvPr id="4" name="Image 0" descr="Мем: сможет ли праймовый Джиган репикнуть французскую империю в 1812 году">    </p:cNvPr>
          <p:cNvPicPr>
            <a:picLocks noChangeAspect="1"/>
          </p:cNvPicPr>
          <p:nvPr/>
        </p:nvPicPr>
        <p:blipFill>
          <a:blip r:embed="rId1"/>
          <a:stretch>
            <a:fillRect/>
          </a:stretch>
        </p:blipFill>
        <p:spPr>
          <a:xfrm>
            <a:off x="595732" y="1417320"/>
            <a:ext cx="3308299" cy="2468880"/>
          </a:xfrm>
          <a:prstGeom prst="rect">
            <a:avLst/>
          </a:prstGeom>
        </p:spPr>
      </p:pic>
      <p:pic>
        <p:nvPicPr>
          <p:cNvPr id="5" name="Image 1" descr="Мем: сможет ли праймовый Джиган взять 1 v 5 против Vitality">    </p:cNvPr>
          <p:cNvPicPr>
            <a:picLocks noChangeAspect="1"/>
          </p:cNvPicPr>
          <p:nvPr/>
        </p:nvPicPr>
        <p:blipFill>
          <a:blip r:embed="rId2"/>
          <a:stretch>
            <a:fillRect/>
          </a:stretch>
        </p:blipFill>
        <p:spPr>
          <a:xfrm>
            <a:off x="4178351" y="1417320"/>
            <a:ext cx="4369918" cy="2468880"/>
          </a:xfrm>
          <a:prstGeom prst="rect">
            <a:avLst/>
          </a:prstGeom>
        </p:spPr>
      </p:pic>
      <p:sp>
        <p:nvSpPr>
          <p:cNvPr id="6" name="Text 2"/>
          <p:cNvSpPr txBox="1"/>
          <p:nvPr/>
        </p:nvSpPr>
        <p:spPr>
          <a:xfrm>
            <a:off x="548640" y="4114800"/>
            <a:ext cx="6858000" cy="320040"/>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Мем → трек:  </a:t>
            </a:r>
            <a:pPr indent="0" marL="0">
              <a:buNone/>
            </a:pPr>
            <a:r>
              <a:rPr lang="en-US" sz="1400" b="1" dirty="0">
                <a:solidFill>
                  <a:srgbClr val="F4F4F6"/>
                </a:solidFill>
                <a:latin typeface="Arial" pitchFamily="34" charset="0"/>
                <a:ea typeface="Arial" pitchFamily="34" charset="-122"/>
                <a:cs typeface="Arial" pitchFamily="34" charset="-120"/>
              </a:rPr>
              <a:t>«Хавчик» · «На чиле» · альбом «Bang»</a:t>
            </a:r>
            <a:endParaRPr lang="en-US" sz="1400" dirty="0"/>
          </a:p>
        </p:txBody>
      </p:sp>
      <p:sp>
        <p:nvSpPr>
          <p:cNvPr id="7" name="Text 3"/>
          <p:cNvSpPr txBox="1"/>
          <p:nvPr/>
        </p:nvSpPr>
        <p:spPr>
          <a:xfrm>
            <a:off x="548640" y="4480560"/>
            <a:ext cx="5486400" cy="228600"/>
          </a:xfrm>
          <a:prstGeom prst="rect">
            <a:avLst/>
          </a:prstGeom>
          <a:noFill/>
          <a:ln/>
        </p:spPr>
        <p:txBody>
          <a:bodyPr wrap="square" lIns="0" tIns="0" rIns="0" bIns="0" rtlCol="0" anchor="ctr"/>
          <a:lstStyle/>
          <a:p>
            <a:pPr indent="0" marL="0">
              <a:buNone/>
            </a:pPr>
            <a:r>
              <a:rPr lang="en-US" sz="800" dirty="0">
                <a:solidFill>
                  <a:srgbClr val="8E8E9C"/>
                </a:solidFill>
                <a:latin typeface="Arial" pitchFamily="34" charset="0"/>
                <a:ea typeface="Arial" pitchFamily="34" charset="-122"/>
                <a:cs typeface="Arial" pitchFamily="34" charset="-120"/>
              </a:rPr>
              <a:t>Мемы: пользователи соцсетей</a:t>
            </a:r>
            <a:endParaRPr lang="en-US" sz="800" dirty="0"/>
          </a:p>
        </p:txBody>
      </p:sp>
      <p:sp>
        <p:nvSpPr>
          <p:cNvPr id="8" name="Text 4"/>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ГЛАВНЫЙ ХИТ КАРЬЕРЫ · 2024–2025</a:t>
            </a:r>
            <a:endParaRPr lang="en-US" sz="1000" dirty="0"/>
          </a:p>
        </p:txBody>
      </p:sp>
      <p:sp>
        <p:nvSpPr>
          <p:cNvPr id="3" name="Text 1"/>
          <p:cNvSpPr txBox="1"/>
          <p:nvPr/>
        </p:nvSpPr>
        <p:spPr>
          <a:xfrm>
            <a:off x="3474720" y="-274320"/>
            <a:ext cx="5486400" cy="2926080"/>
          </a:xfrm>
          <a:prstGeom prst="rect">
            <a:avLst/>
          </a:prstGeom>
          <a:noFill/>
          <a:ln/>
        </p:spPr>
        <p:txBody>
          <a:bodyPr wrap="square" lIns="0" tIns="0" rIns="0" bIns="0" rtlCol="0" anchor="b"/>
          <a:lstStyle/>
          <a:p>
            <a:pPr algn="r" indent="0" marL="0">
              <a:buNone/>
            </a:pPr>
            <a:r>
              <a:rPr lang="en-US" sz="15000" b="1" dirty="0">
                <a:solidFill>
                  <a:srgbClr val="17171F"/>
                </a:solidFill>
                <a:latin typeface="Arial" pitchFamily="34" charset="0"/>
                <a:ea typeface="Arial" pitchFamily="34" charset="-122"/>
                <a:cs typeface="Arial" pitchFamily="34" charset="-120"/>
              </a:rPr>
              <a:t>2024</a:t>
            </a:r>
            <a:endParaRPr lang="en-US" sz="15000" dirty="0"/>
          </a:p>
        </p:txBody>
      </p:sp>
      <p:sp>
        <p:nvSpPr>
          <p:cNvPr id="4" name="Text 2"/>
          <p:cNvSpPr txBox="1"/>
          <p:nvPr/>
        </p:nvSpPr>
        <p:spPr>
          <a:xfrm>
            <a:off x="548640" y="914400"/>
            <a:ext cx="5486400" cy="1097280"/>
          </a:xfrm>
          <a:prstGeom prst="rect">
            <a:avLst/>
          </a:prstGeom>
          <a:noFill/>
          <a:ln/>
        </p:spPr>
        <p:txBody>
          <a:bodyPr wrap="square" lIns="0" tIns="0" rIns="0" bIns="0" rtlCol="0" anchor="ctr"/>
          <a:lstStyle/>
          <a:p>
            <a:pPr indent="0" marL="0">
              <a:buNone/>
            </a:pPr>
            <a:r>
              <a:rPr lang="en-US" sz="6400" b="1" dirty="0">
                <a:solidFill>
                  <a:srgbClr val="F4F4F6"/>
                </a:solidFill>
                <a:latin typeface="Arial" pitchFamily="34" charset="0"/>
                <a:ea typeface="Arial" pitchFamily="34" charset="-122"/>
                <a:cs typeface="Arial" pitchFamily="34" charset="-120"/>
              </a:rPr>
              <a:t>«Худи»</a:t>
            </a:r>
            <a:endParaRPr lang="en-US" sz="6400" dirty="0"/>
          </a:p>
        </p:txBody>
      </p:sp>
      <p:sp>
        <p:nvSpPr>
          <p:cNvPr id="5" name="Text 3"/>
          <p:cNvSpPr txBox="1"/>
          <p:nvPr/>
        </p:nvSpPr>
        <p:spPr>
          <a:xfrm>
            <a:off x="548640" y="2011680"/>
            <a:ext cx="5486400" cy="320040"/>
          </a:xfrm>
          <a:prstGeom prst="rect">
            <a:avLst/>
          </a:prstGeom>
          <a:noFill/>
          <a:ln/>
        </p:spPr>
        <p:txBody>
          <a:bodyPr wrap="square" lIns="0" tIns="0" rIns="0" bIns="0" rtlCol="0" anchor="ctr"/>
          <a:lstStyle/>
          <a:p>
            <a:pPr indent="0" marL="0">
              <a:buNone/>
            </a:pPr>
            <a:r>
              <a:rPr lang="en-US" sz="1500" dirty="0">
                <a:solidFill>
                  <a:srgbClr val="8E8E9C"/>
                </a:solidFill>
                <a:latin typeface="Arial" pitchFamily="34" charset="0"/>
                <a:ea typeface="Arial" pitchFamily="34" charset="-122"/>
                <a:cs typeface="Arial" pitchFamily="34" charset="-120"/>
              </a:rPr>
              <a:t>с Artik &amp; Asti и NILETTO · осень 2024</a:t>
            </a:r>
            <a:endParaRPr lang="en-US" sz="1500" dirty="0"/>
          </a:p>
        </p:txBody>
      </p:sp>
      <p:sp>
        <p:nvSpPr>
          <p:cNvPr id="6" name="Shape 4"/>
          <p:cNvSpPr/>
          <p:nvPr/>
        </p:nvSpPr>
        <p:spPr>
          <a:xfrm>
            <a:off x="548640" y="2743200"/>
            <a:ext cx="2514600" cy="1508760"/>
          </a:xfrm>
          <a:prstGeom prst="roundRect">
            <a:avLst>
              <a:gd name="adj" fmla="val 4848"/>
            </a:avLst>
          </a:prstGeom>
          <a:solidFill>
            <a:srgbClr val="15151D"/>
          </a:solidFill>
          <a:ln w="9525">
            <a:solidFill>
              <a:srgbClr val="2A2A36"/>
            </a:solidFill>
            <a:prstDash val="solid"/>
          </a:ln>
        </p:spPr>
      </p:sp>
      <p:sp>
        <p:nvSpPr>
          <p:cNvPr id="7" name="Text 5"/>
          <p:cNvSpPr txBox="1"/>
          <p:nvPr/>
        </p:nvSpPr>
        <p:spPr>
          <a:xfrm>
            <a:off x="777240" y="2880360"/>
            <a:ext cx="2103120" cy="640080"/>
          </a:xfrm>
          <a:prstGeom prst="rect">
            <a:avLst/>
          </a:prstGeom>
          <a:noFill/>
          <a:ln/>
        </p:spPr>
        <p:txBody>
          <a:bodyPr wrap="square" lIns="0" tIns="0" rIns="0" bIns="0" rtlCol="0" anchor="ctr"/>
          <a:lstStyle/>
          <a:p>
            <a:pPr indent="0" marL="0">
              <a:buNone/>
            </a:pPr>
            <a:r>
              <a:rPr lang="en-US" sz="3200" b="1" dirty="0">
                <a:solidFill>
                  <a:srgbClr val="8B7CF6"/>
                </a:solidFill>
                <a:latin typeface="Arial" pitchFamily="34" charset="0"/>
                <a:ea typeface="Arial" pitchFamily="34" charset="-122"/>
                <a:cs typeface="Arial" pitchFamily="34" charset="-120"/>
              </a:rPr>
              <a:t>№1</a:t>
            </a:r>
            <a:endParaRPr lang="en-US" sz="3200" dirty="0"/>
          </a:p>
        </p:txBody>
      </p:sp>
      <p:sp>
        <p:nvSpPr>
          <p:cNvPr id="8" name="Text 6"/>
          <p:cNvSpPr txBox="1"/>
          <p:nvPr/>
        </p:nvSpPr>
        <p:spPr>
          <a:xfrm>
            <a:off x="777240" y="3520440"/>
            <a:ext cx="2103120" cy="594360"/>
          </a:xfrm>
          <a:prstGeom prst="rect">
            <a:avLst/>
          </a:prstGeom>
          <a:noFill/>
          <a:ln/>
        </p:spPr>
        <p:txBody>
          <a:bodyPr wrap="square" lIns="0" tIns="0" rIns="0" bIns="0" rtlCol="0" anchor="t"/>
          <a:lstStyle/>
          <a:p>
            <a:pPr indent="0" marL="0">
              <a:buNone/>
            </a:pPr>
            <a:r>
              <a:rPr lang="en-US" sz="1200" dirty="0">
                <a:solidFill>
                  <a:srgbClr val="F4F4F6"/>
                </a:solidFill>
                <a:latin typeface="Arial" pitchFamily="34" charset="0"/>
                <a:ea typeface="Arial" pitchFamily="34" charset="-122"/>
                <a:cs typeface="Arial" pitchFamily="34" charset="-120"/>
              </a:rPr>
              <a:t>«Трек года»</a:t>
            </a:r>
            <a:endParaRPr lang="en-US" sz="1200" dirty="0"/>
          </a:p>
          <a:p>
            <a:pPr indent="0" marL="0">
              <a:buNone/>
            </a:pPr>
            <a:r>
              <a:rPr lang="en-US" sz="1200" dirty="0">
                <a:solidFill>
                  <a:srgbClr val="F4F4F6"/>
                </a:solidFill>
                <a:latin typeface="Arial" pitchFamily="34" charset="0"/>
                <a:ea typeface="Arial" pitchFamily="34" charset="-122"/>
                <a:cs typeface="Arial" pitchFamily="34" charset="-120"/>
              </a:rPr>
              <a:t>Яндекс Музыка</a:t>
            </a:r>
            <a:endParaRPr lang="en-US" sz="1200" dirty="0"/>
          </a:p>
        </p:txBody>
      </p:sp>
      <p:sp>
        <p:nvSpPr>
          <p:cNvPr id="9" name="Shape 7"/>
          <p:cNvSpPr/>
          <p:nvPr/>
        </p:nvSpPr>
        <p:spPr>
          <a:xfrm>
            <a:off x="3291840" y="2743200"/>
            <a:ext cx="2514600" cy="1508760"/>
          </a:xfrm>
          <a:prstGeom prst="roundRect">
            <a:avLst>
              <a:gd name="adj" fmla="val 4848"/>
            </a:avLst>
          </a:prstGeom>
          <a:solidFill>
            <a:srgbClr val="15151D"/>
          </a:solidFill>
          <a:ln w="9525">
            <a:solidFill>
              <a:srgbClr val="2A2A36"/>
            </a:solidFill>
            <a:prstDash val="solid"/>
          </a:ln>
        </p:spPr>
      </p:sp>
      <p:sp>
        <p:nvSpPr>
          <p:cNvPr id="10" name="Text 8"/>
          <p:cNvSpPr txBox="1"/>
          <p:nvPr/>
        </p:nvSpPr>
        <p:spPr>
          <a:xfrm>
            <a:off x="3520440" y="2880360"/>
            <a:ext cx="2103120" cy="640080"/>
          </a:xfrm>
          <a:prstGeom prst="rect">
            <a:avLst/>
          </a:prstGeom>
          <a:noFill/>
          <a:ln/>
        </p:spPr>
        <p:txBody>
          <a:bodyPr wrap="square" lIns="0" tIns="0" rIns="0" bIns="0" rtlCol="0" anchor="ctr"/>
          <a:lstStyle/>
          <a:p>
            <a:pPr indent="0" marL="0">
              <a:buNone/>
            </a:pPr>
            <a:r>
              <a:rPr lang="en-US" sz="3200" b="1" dirty="0">
                <a:solidFill>
                  <a:srgbClr val="8B7CF6"/>
                </a:solidFill>
                <a:latin typeface="Arial" pitchFamily="34" charset="0"/>
                <a:ea typeface="Arial" pitchFamily="34" charset="-122"/>
                <a:cs typeface="Arial" pitchFamily="34" charset="-120"/>
              </a:rPr>
              <a:t>Top Hit</a:t>
            </a:r>
            <a:endParaRPr lang="en-US" sz="3200" dirty="0"/>
          </a:p>
        </p:txBody>
      </p:sp>
      <p:sp>
        <p:nvSpPr>
          <p:cNvPr id="11" name="Text 9"/>
          <p:cNvSpPr txBox="1"/>
          <p:nvPr/>
        </p:nvSpPr>
        <p:spPr>
          <a:xfrm>
            <a:off x="3520440" y="3520440"/>
            <a:ext cx="2103120" cy="594360"/>
          </a:xfrm>
          <a:prstGeom prst="rect">
            <a:avLst/>
          </a:prstGeom>
          <a:noFill/>
          <a:ln/>
        </p:spPr>
        <p:txBody>
          <a:bodyPr wrap="square" lIns="0" tIns="0" rIns="0" bIns="0" rtlCol="0" anchor="t"/>
          <a:lstStyle/>
          <a:p>
            <a:pPr indent="0" marL="0">
              <a:buNone/>
            </a:pPr>
            <a:r>
              <a:rPr lang="en-US" sz="1200" dirty="0">
                <a:solidFill>
                  <a:srgbClr val="F4F4F6"/>
                </a:solidFill>
                <a:latin typeface="Arial" pitchFamily="34" charset="0"/>
                <a:ea typeface="Arial" pitchFamily="34" charset="-122"/>
                <a:cs typeface="Arial" pitchFamily="34" charset="-120"/>
              </a:rPr>
              <a:t>награды</a:t>
            </a:r>
            <a:endParaRPr lang="en-US" sz="1200" dirty="0"/>
          </a:p>
          <a:p>
            <a:pPr indent="0" marL="0">
              <a:buNone/>
            </a:pPr>
            <a:r>
              <a:rPr lang="en-US" sz="1200" dirty="0">
                <a:solidFill>
                  <a:srgbClr val="F4F4F6"/>
                </a:solidFill>
                <a:latin typeface="Arial" pitchFamily="34" charset="0"/>
                <a:ea typeface="Arial" pitchFamily="34" charset="-122"/>
                <a:cs typeface="Arial" pitchFamily="34" charset="-120"/>
              </a:rPr>
              <a:t>за ротации</a:t>
            </a:r>
            <a:endParaRPr lang="en-US" sz="1200" dirty="0"/>
          </a:p>
        </p:txBody>
      </p:sp>
      <p:sp>
        <p:nvSpPr>
          <p:cNvPr id="12" name="Shape 10"/>
          <p:cNvSpPr/>
          <p:nvPr/>
        </p:nvSpPr>
        <p:spPr>
          <a:xfrm>
            <a:off x="6035040" y="2743200"/>
            <a:ext cx="2514600" cy="1508760"/>
          </a:xfrm>
          <a:prstGeom prst="roundRect">
            <a:avLst>
              <a:gd name="adj" fmla="val 4848"/>
            </a:avLst>
          </a:prstGeom>
          <a:solidFill>
            <a:srgbClr val="231F3D"/>
          </a:solidFill>
          <a:ln w="9525">
            <a:solidFill>
              <a:srgbClr val="2A2A36"/>
            </a:solidFill>
            <a:prstDash val="solid"/>
          </a:ln>
        </p:spPr>
      </p:sp>
      <p:sp>
        <p:nvSpPr>
          <p:cNvPr id="13" name="Text 11"/>
          <p:cNvSpPr txBox="1"/>
          <p:nvPr/>
        </p:nvSpPr>
        <p:spPr>
          <a:xfrm>
            <a:off x="6263640" y="2880360"/>
            <a:ext cx="2103120" cy="640080"/>
          </a:xfrm>
          <a:prstGeom prst="rect">
            <a:avLst/>
          </a:prstGeom>
          <a:noFill/>
          <a:ln/>
        </p:spPr>
        <p:txBody>
          <a:bodyPr wrap="square" lIns="0" tIns="0" rIns="0" bIns="0" rtlCol="0" anchor="ctr"/>
          <a:lstStyle/>
          <a:p>
            <a:pPr indent="0" marL="0">
              <a:buNone/>
            </a:pPr>
            <a:r>
              <a:rPr lang="en-US" sz="3200" b="1" dirty="0">
                <a:solidFill>
                  <a:srgbClr val="8B7CF6"/>
                </a:solidFill>
                <a:latin typeface="Arial" pitchFamily="34" charset="0"/>
                <a:ea typeface="Arial" pitchFamily="34" charset="-122"/>
                <a:cs typeface="Arial" pitchFamily="34" charset="-120"/>
              </a:rPr>
              <a:t>1-й</a:t>
            </a:r>
            <a:endParaRPr lang="en-US" sz="3200" dirty="0"/>
          </a:p>
        </p:txBody>
      </p:sp>
      <p:sp>
        <p:nvSpPr>
          <p:cNvPr id="14" name="Text 12"/>
          <p:cNvSpPr txBox="1"/>
          <p:nvPr/>
        </p:nvSpPr>
        <p:spPr>
          <a:xfrm>
            <a:off x="6263640" y="3520440"/>
            <a:ext cx="2103120" cy="594360"/>
          </a:xfrm>
          <a:prstGeom prst="rect">
            <a:avLst/>
          </a:prstGeom>
          <a:noFill/>
          <a:ln/>
        </p:spPr>
        <p:txBody>
          <a:bodyPr wrap="square" lIns="0" tIns="0" rIns="0" bIns="0" rtlCol="0" anchor="t"/>
          <a:lstStyle/>
          <a:p>
            <a:pPr indent="0" marL="0">
              <a:buNone/>
            </a:pPr>
            <a:r>
              <a:rPr lang="en-US" sz="1200" dirty="0">
                <a:solidFill>
                  <a:srgbClr val="F4F4F6"/>
                </a:solidFill>
                <a:latin typeface="Arial" pitchFamily="34" charset="0"/>
                <a:ea typeface="Arial" pitchFamily="34" charset="-122"/>
                <a:cs typeface="Arial" pitchFamily="34" charset="-120"/>
              </a:rPr>
              <a:t>«Бриллиантовый диск»</a:t>
            </a:r>
            <a:endParaRPr lang="en-US" sz="1200" dirty="0"/>
          </a:p>
          <a:p>
            <a:pPr indent="0" marL="0">
              <a:buNone/>
            </a:pPr>
            <a:r>
              <a:rPr lang="en-US" sz="1200" dirty="0">
                <a:solidFill>
                  <a:srgbClr val="F4F4F6"/>
                </a:solidFill>
                <a:latin typeface="Arial" pitchFamily="34" charset="0"/>
                <a:ea typeface="Arial" pitchFamily="34" charset="-122"/>
                <a:cs typeface="Arial" pitchFamily="34" charset="-120"/>
              </a:rPr>
              <a:t>НФМИ по новым нормам</a:t>
            </a:r>
            <a:endParaRPr lang="en-US" sz="1200" dirty="0"/>
          </a:p>
        </p:txBody>
      </p:sp>
      <p:pic>
        <p:nvPicPr>
          <p:cNvPr id="15" name="Image 0" descr="Мем: Джиган сражается с медузой, используя краба как щит и барракуду как меч">    </p:cNvPr>
          <p:cNvPicPr>
            <a:picLocks noChangeAspect="1"/>
          </p:cNvPicPr>
          <p:nvPr/>
        </p:nvPicPr>
        <p:blipFill>
          <a:blip r:embed="rId1"/>
          <a:stretch>
            <a:fillRect/>
          </a:stretch>
        </p:blipFill>
        <p:spPr>
          <a:xfrm rot="240000">
            <a:off x="6720840" y="274320"/>
            <a:ext cx="1737360" cy="1872155"/>
          </a:xfrm>
          <a:prstGeom prst="rect">
            <a:avLst/>
          </a:prstGeom>
        </p:spPr>
      </p:pic>
      <p:sp>
        <p:nvSpPr>
          <p:cNvPr id="16" name="Text 13"/>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ВЛИЯНИЕ</a:t>
            </a:r>
            <a:endParaRPr lang="en-US" sz="1000" dirty="0"/>
          </a:p>
        </p:txBody>
      </p:sp>
      <p:sp>
        <p:nvSpPr>
          <p:cNvPr id="3" name="Text 1"/>
          <p:cNvSpPr txBox="1"/>
          <p:nvPr/>
        </p:nvSpPr>
        <p:spPr>
          <a:xfrm>
            <a:off x="548640" y="731520"/>
            <a:ext cx="8046720" cy="822960"/>
          </a:xfrm>
          <a:prstGeom prst="rect">
            <a:avLst/>
          </a:prstGeom>
          <a:noFill/>
          <a:ln/>
        </p:spPr>
        <p:txBody>
          <a:bodyPr wrap="square" lIns="0" tIns="0" rIns="0" bIns="0" rtlCol="0" anchor="t"/>
          <a:lstStyle/>
          <a:p>
            <a:pPr indent="0" marL="0">
              <a:buNone/>
            </a:pPr>
            <a:r>
              <a:rPr lang="en-US" sz="3400" b="1" dirty="0">
                <a:solidFill>
                  <a:srgbClr val="F4F4F6"/>
                </a:solidFill>
                <a:latin typeface="Arial" pitchFamily="34" charset="0"/>
                <a:ea typeface="Arial" pitchFamily="34" charset="-122"/>
                <a:cs typeface="Arial" pitchFamily="34" charset="-120"/>
              </a:rPr>
              <a:t>Что он дал сцене</a:t>
            </a:r>
            <a:endParaRPr lang="en-US" sz="3400" dirty="0"/>
          </a:p>
        </p:txBody>
      </p:sp>
      <p:sp>
        <p:nvSpPr>
          <p:cNvPr id="4" name="Text 2"/>
          <p:cNvSpPr txBox="1"/>
          <p:nvPr/>
        </p:nvSpPr>
        <p:spPr>
          <a:xfrm>
            <a:off x="548640" y="1719072"/>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01</a:t>
            </a:r>
            <a:endParaRPr lang="en-US" sz="1400" dirty="0"/>
          </a:p>
        </p:txBody>
      </p:sp>
      <p:sp>
        <p:nvSpPr>
          <p:cNvPr id="5" name="Text 3"/>
          <p:cNvSpPr txBox="1"/>
          <p:nvPr/>
        </p:nvSpPr>
        <p:spPr>
          <a:xfrm>
            <a:off x="1097280" y="1719072"/>
            <a:ext cx="402336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Рэп в федеральном эфире</a:t>
            </a:r>
            <a:endParaRPr lang="en-US" sz="1600" dirty="0"/>
          </a:p>
        </p:txBody>
      </p:sp>
      <p:sp>
        <p:nvSpPr>
          <p:cNvPr id="6" name="Text 4"/>
          <p:cNvSpPr txBox="1"/>
          <p:nvPr/>
        </p:nvSpPr>
        <p:spPr>
          <a:xfrm>
            <a:off x="1097280" y="2011680"/>
            <a:ext cx="402336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Формула «куплет + эстрадный хук»</a:t>
            </a:r>
            <a:endParaRPr lang="en-US" sz="1200" dirty="0"/>
          </a:p>
        </p:txBody>
      </p:sp>
      <p:sp>
        <p:nvSpPr>
          <p:cNvPr id="7" name="Text 5"/>
          <p:cNvSpPr txBox="1"/>
          <p:nvPr/>
        </p:nvSpPr>
        <p:spPr>
          <a:xfrm>
            <a:off x="548640" y="2587752"/>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02</a:t>
            </a:r>
            <a:endParaRPr lang="en-US" sz="1400" dirty="0"/>
          </a:p>
        </p:txBody>
      </p:sp>
      <p:sp>
        <p:nvSpPr>
          <p:cNvPr id="8" name="Text 6"/>
          <p:cNvSpPr txBox="1"/>
          <p:nvPr/>
        </p:nvSpPr>
        <p:spPr>
          <a:xfrm>
            <a:off x="1097280" y="2587752"/>
            <a:ext cx="402336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Продюсерское чутьё</a:t>
            </a:r>
            <a:endParaRPr lang="en-US" sz="1600" dirty="0"/>
          </a:p>
        </p:txBody>
      </p:sp>
      <p:sp>
        <p:nvSpPr>
          <p:cNvPr id="9" name="Text 7"/>
          <p:cNvSpPr txBox="1"/>
          <p:nvPr/>
        </p:nvSpPr>
        <p:spPr>
          <a:xfrm>
            <a:off x="1097280" y="2880360"/>
            <a:ext cx="402336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Смоки Мо и Лепс, Тимати и фрешмены</a:t>
            </a:r>
            <a:endParaRPr lang="en-US" sz="1200" dirty="0"/>
          </a:p>
        </p:txBody>
      </p:sp>
      <p:sp>
        <p:nvSpPr>
          <p:cNvPr id="10" name="Text 8"/>
          <p:cNvSpPr txBox="1"/>
          <p:nvPr/>
        </p:nvSpPr>
        <p:spPr>
          <a:xfrm>
            <a:off x="548640" y="3456432"/>
            <a:ext cx="502920" cy="292608"/>
          </a:xfrm>
          <a:prstGeom prst="rect">
            <a:avLst/>
          </a:prstGeom>
          <a:noFill/>
          <a:ln/>
        </p:spPr>
        <p:txBody>
          <a:bodyPr wrap="square" lIns="0" tIns="0" rIns="0" bIns="0" rtlCol="0" anchor="ctr"/>
          <a:lstStyle/>
          <a:p>
            <a:pPr indent="0" marL="0">
              <a:buNone/>
            </a:pPr>
            <a:r>
              <a:rPr lang="en-US" sz="1400" b="1" dirty="0">
                <a:solidFill>
                  <a:srgbClr val="8B7CF6"/>
                </a:solidFill>
                <a:latin typeface="Arial" pitchFamily="34" charset="0"/>
                <a:ea typeface="Arial" pitchFamily="34" charset="-122"/>
                <a:cs typeface="Arial" pitchFamily="34" charset="-120"/>
              </a:rPr>
              <a:t>03</a:t>
            </a:r>
            <a:endParaRPr lang="en-US" sz="1400" dirty="0"/>
          </a:p>
        </p:txBody>
      </p:sp>
      <p:sp>
        <p:nvSpPr>
          <p:cNvPr id="11" name="Text 9"/>
          <p:cNvSpPr txBox="1"/>
          <p:nvPr/>
        </p:nvSpPr>
        <p:spPr>
          <a:xfrm>
            <a:off x="1097280" y="3456432"/>
            <a:ext cx="4023360" cy="292608"/>
          </a:xfrm>
          <a:prstGeom prst="rect">
            <a:avLst/>
          </a:prstGeom>
          <a:noFill/>
          <a:ln/>
        </p:spPr>
        <p:txBody>
          <a:bodyPr wrap="square" lIns="0" tIns="0" rIns="0" bIns="0" rtlCol="0" anchor="ctr"/>
          <a:lstStyle/>
          <a:p>
            <a:pPr indent="0" marL="0">
              <a:buNone/>
            </a:pPr>
            <a:r>
              <a:rPr lang="en-US" sz="1600" b="1" dirty="0">
                <a:solidFill>
                  <a:srgbClr val="F4F4F6"/>
                </a:solidFill>
                <a:latin typeface="Arial" pitchFamily="34" charset="0"/>
                <a:ea typeface="Arial" pitchFamily="34" charset="-122"/>
                <a:cs typeface="Arial" pitchFamily="34" charset="-120"/>
              </a:rPr>
              <a:t>Понимание аудитории</a:t>
            </a:r>
            <a:endParaRPr lang="en-US" sz="1600" dirty="0"/>
          </a:p>
        </p:txBody>
      </p:sp>
      <p:sp>
        <p:nvSpPr>
          <p:cNvPr id="12" name="Text 10"/>
          <p:cNvSpPr txBox="1"/>
          <p:nvPr/>
        </p:nvSpPr>
        <p:spPr>
          <a:xfrm>
            <a:off x="1097280" y="3749040"/>
            <a:ext cx="4023360" cy="274320"/>
          </a:xfrm>
          <a:prstGeom prst="rect">
            <a:avLst/>
          </a:prstGeom>
          <a:noFill/>
          <a:ln/>
        </p:spPr>
        <p:txBody>
          <a:bodyPr wrap="square" lIns="0" tIns="0" rIns="0" bIns="0" rtlCol="0" anchor="ctr"/>
          <a:lstStyle/>
          <a:p>
            <a:pPr indent="0" marL="0">
              <a:buNone/>
            </a:pPr>
            <a:r>
              <a:rPr lang="en-US" sz="1200" dirty="0">
                <a:solidFill>
                  <a:srgbClr val="8E8E9C"/>
                </a:solidFill>
                <a:latin typeface="Arial" pitchFamily="34" charset="0"/>
                <a:ea typeface="Arial" pitchFamily="34" charset="-122"/>
                <a:cs typeface="Arial" pitchFamily="34" charset="-120"/>
              </a:rPr>
              <a:t>Хиты в каждую смену трендов</a:t>
            </a:r>
            <a:endParaRPr lang="en-US" sz="1200" dirty="0"/>
          </a:p>
        </p:txBody>
      </p:sp>
      <p:sp>
        <p:nvSpPr>
          <p:cNvPr id="13" name="Shape 11"/>
          <p:cNvSpPr/>
          <p:nvPr/>
        </p:nvSpPr>
        <p:spPr>
          <a:xfrm>
            <a:off x="5486400" y="1737360"/>
            <a:ext cx="3108960" cy="2286000"/>
          </a:xfrm>
          <a:prstGeom prst="roundRect">
            <a:avLst>
              <a:gd name="adj" fmla="val 3200"/>
            </a:avLst>
          </a:prstGeom>
          <a:solidFill>
            <a:srgbClr val="231F3D"/>
          </a:solidFill>
          <a:ln w="9525">
            <a:solidFill>
              <a:srgbClr val="2A2A36"/>
            </a:solidFill>
            <a:prstDash val="solid"/>
          </a:ln>
        </p:spPr>
      </p:sp>
      <p:sp>
        <p:nvSpPr>
          <p:cNvPr id="14" name="Text 12"/>
          <p:cNvSpPr txBox="1"/>
          <p:nvPr/>
        </p:nvSpPr>
        <p:spPr>
          <a:xfrm>
            <a:off x="5760720" y="1737360"/>
            <a:ext cx="2651760" cy="2286000"/>
          </a:xfrm>
          <a:prstGeom prst="rect">
            <a:avLst/>
          </a:prstGeom>
          <a:noFill/>
          <a:ln/>
        </p:spPr>
        <p:txBody>
          <a:bodyPr wrap="square" lIns="0" tIns="0" rIns="0" bIns="0" rtlCol="0" anchor="ctr"/>
          <a:lstStyle/>
          <a:p>
            <a:pPr indent="0" marL="0">
              <a:spcAft>
                <a:spcPts val="600"/>
              </a:spcAft>
              <a:buNone/>
            </a:pPr>
            <a:r>
              <a:rPr lang="en-US" sz="1800" dirty="0">
                <a:solidFill>
                  <a:srgbClr val="8E8E9C"/>
                </a:solidFill>
                <a:latin typeface="Arial" pitchFamily="34" charset="0"/>
                <a:ea typeface="Arial" pitchFamily="34" charset="-122"/>
                <a:cs typeface="Arial" pitchFamily="34" charset="-120"/>
              </a:rPr>
              <a:t>Не техника рифмы —</a:t>
            </a:r>
            <a:endParaRPr lang="en-US" sz="1800" dirty="0"/>
          </a:p>
          <a:p>
            <a:pPr indent="0" marL="0">
              <a:spcAft>
                <a:spcPts val="600"/>
              </a:spcAft>
              <a:buNone/>
            </a:pPr>
            <a:r>
              <a:rPr lang="en-US" sz="1800" b="1" dirty="0">
                <a:solidFill>
                  <a:srgbClr val="F4F4F6"/>
                </a:solidFill>
                <a:latin typeface="Arial" pitchFamily="34" charset="0"/>
                <a:ea typeface="Arial" pitchFamily="34" charset="-122"/>
                <a:cs typeface="Arial" pitchFamily="34" charset="-120"/>
              </a:rPr>
              <a:t>а чутьё на хит и на людей</a:t>
            </a:r>
            <a:endParaRPr lang="en-US" sz="1800" dirty="0"/>
          </a:p>
        </p:txBody>
      </p:sp>
      <p:pic>
        <p:nvPicPr>
          <p:cNvPr id="15" name="Image 0" descr="Твит: никогда не жалею ни о чём, кроме того, что Джиган не мой батя">    </p:cNvPr>
          <p:cNvPicPr>
            <a:picLocks noChangeAspect="1"/>
          </p:cNvPicPr>
          <p:nvPr/>
        </p:nvPicPr>
        <p:blipFill>
          <a:blip r:embed="rId1"/>
          <a:stretch>
            <a:fillRect/>
          </a:stretch>
        </p:blipFill>
        <p:spPr>
          <a:xfrm rot="120000">
            <a:off x="4937760" y="365760"/>
            <a:ext cx="3657600" cy="1028571"/>
          </a:xfrm>
          <a:prstGeom prst="rect">
            <a:avLst/>
          </a:prstGeom>
        </p:spPr>
      </p:pic>
      <p:sp>
        <p:nvSpPr>
          <p:cNvPr id="16" name="Text 13"/>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10"/>
        </a:solidFill>
      </p:bgPr>
    </p:bg>
    <p:spTree>
      <p:nvGrpSpPr>
        <p:cNvPr id="1" name=""/>
        <p:cNvGrpSpPr/>
        <p:nvPr/>
      </p:nvGrpSpPr>
      <p:grpSpPr>
        <a:xfrm>
          <a:off x="0" y="0"/>
          <a:ext cx="0" cy="0"/>
          <a:chOff x="0" y="0"/>
          <a:chExt cx="0" cy="0"/>
        </a:xfrm>
      </p:grpSpPr>
      <p:sp>
        <p:nvSpPr>
          <p:cNvPr id="2" name="Text 0"/>
          <p:cNvSpPr txBox="1"/>
          <p:nvPr/>
        </p:nvSpPr>
        <p:spPr>
          <a:xfrm>
            <a:off x="548640" y="411480"/>
            <a:ext cx="4572000" cy="274320"/>
          </a:xfrm>
          <a:prstGeom prst="rect">
            <a:avLst/>
          </a:prstGeom>
          <a:noFill/>
          <a:ln/>
        </p:spPr>
        <p:txBody>
          <a:bodyPr wrap="square" lIns="0" tIns="0" rIns="0" bIns="0" rtlCol="0" anchor="ctr"/>
          <a:lstStyle/>
          <a:p>
            <a:pPr indent="0" marL="0">
              <a:buNone/>
            </a:pPr>
            <a:r>
              <a:rPr lang="en-US" sz="1000" b="1" spc="300" kern="0" dirty="0">
                <a:solidFill>
                  <a:srgbClr val="8B7CF6"/>
                </a:solidFill>
                <a:latin typeface="Arial" pitchFamily="34" charset="0"/>
                <a:ea typeface="Arial" pitchFamily="34" charset="-122"/>
                <a:cs typeface="Arial" pitchFamily="34" charset="-120"/>
              </a:rPr>
              <a:t>ИТОГИ</a:t>
            </a:r>
            <a:endParaRPr lang="en-US" sz="1000" dirty="0"/>
          </a:p>
        </p:txBody>
      </p:sp>
      <p:sp>
        <p:nvSpPr>
          <p:cNvPr id="3" name="Text 1"/>
          <p:cNvSpPr txBox="1"/>
          <p:nvPr/>
        </p:nvSpPr>
        <p:spPr>
          <a:xfrm>
            <a:off x="548640" y="731520"/>
            <a:ext cx="8046720" cy="822960"/>
          </a:xfrm>
          <a:prstGeom prst="rect">
            <a:avLst/>
          </a:prstGeom>
          <a:noFill/>
          <a:ln/>
        </p:spPr>
        <p:txBody>
          <a:bodyPr wrap="square" lIns="0" tIns="0" rIns="0" bIns="0" rtlCol="0" anchor="t"/>
          <a:lstStyle/>
          <a:p>
            <a:pPr indent="0" marL="0">
              <a:buNone/>
            </a:pPr>
            <a:r>
              <a:rPr lang="en-US" sz="3400" b="1" dirty="0">
                <a:solidFill>
                  <a:srgbClr val="F4F4F6"/>
                </a:solidFill>
                <a:latin typeface="Arial" pitchFamily="34" charset="0"/>
                <a:ea typeface="Arial" pitchFamily="34" charset="-122"/>
                <a:cs typeface="Arial" pitchFamily="34" charset="-120"/>
              </a:rPr>
              <a:t>20 лет — несколько смен трендов</a:t>
            </a:r>
            <a:endParaRPr lang="en-US" sz="3400" dirty="0"/>
          </a:p>
        </p:txBody>
      </p:sp>
      <p:sp>
        <p:nvSpPr>
          <p:cNvPr id="4" name="Shape 2"/>
          <p:cNvSpPr/>
          <p:nvPr/>
        </p:nvSpPr>
        <p:spPr>
          <a:xfrm>
            <a:off x="1280160" y="2514600"/>
            <a:ext cx="6583680" cy="0"/>
          </a:xfrm>
          <a:prstGeom prst="line">
            <a:avLst/>
          </a:prstGeom>
          <a:noFill/>
          <a:ln w="19050">
            <a:solidFill>
              <a:srgbClr val="2A2A36"/>
            </a:solidFill>
            <a:prstDash val="solid"/>
          </a:ln>
        </p:spPr>
      </p:sp>
      <p:sp>
        <p:nvSpPr>
          <p:cNvPr id="5" name="Shape 3"/>
          <p:cNvSpPr/>
          <p:nvPr/>
        </p:nvSpPr>
        <p:spPr>
          <a:xfrm>
            <a:off x="1197864" y="2432304"/>
            <a:ext cx="164592" cy="164592"/>
          </a:xfrm>
          <a:prstGeom prst="ellipse">
            <a:avLst/>
          </a:prstGeom>
          <a:solidFill>
            <a:srgbClr val="8E8E9C"/>
          </a:solidFill>
          <a:ln w="12700">
            <a:solidFill>
              <a:srgbClr val="8E8E9C"/>
            </a:solidFill>
            <a:prstDash val="solid"/>
          </a:ln>
        </p:spPr>
      </p:sp>
      <p:sp>
        <p:nvSpPr>
          <p:cNvPr id="6" name="Text 4"/>
          <p:cNvSpPr txBox="1"/>
          <p:nvPr/>
        </p:nvSpPr>
        <p:spPr>
          <a:xfrm>
            <a:off x="548640" y="1828800"/>
            <a:ext cx="1463040" cy="36576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2005</a:t>
            </a:r>
            <a:endParaRPr lang="en-US" sz="1800" dirty="0"/>
          </a:p>
        </p:txBody>
      </p:sp>
      <p:sp>
        <p:nvSpPr>
          <p:cNvPr id="7" name="Text 5"/>
          <p:cNvSpPr txBox="1"/>
          <p:nvPr/>
        </p:nvSpPr>
        <p:spPr>
          <a:xfrm>
            <a:off x="548640" y="2788920"/>
            <a:ext cx="1463040" cy="320040"/>
          </a:xfrm>
          <a:prstGeom prst="rect">
            <a:avLst/>
          </a:prstGeom>
          <a:noFill/>
          <a:ln/>
        </p:spPr>
        <p:txBody>
          <a:bodyPr wrap="square" lIns="0" tIns="0" rIns="0" bIns="0" rtlCol="0" anchor="ctr"/>
          <a:lstStyle/>
          <a:p>
            <a:pPr algn="ctr" indent="0" marL="0">
              <a:buNone/>
            </a:pPr>
            <a:r>
              <a:rPr lang="en-US" sz="1200" dirty="0">
                <a:solidFill>
                  <a:srgbClr val="8E8E9C"/>
                </a:solidFill>
                <a:latin typeface="Arial" pitchFamily="34" charset="0"/>
                <a:ea typeface="Arial" pitchFamily="34" charset="-122"/>
                <a:cs typeface="Arial" pitchFamily="34" charset="-120"/>
              </a:rPr>
              <a:t>«Мои пацаны»</a:t>
            </a:r>
            <a:endParaRPr lang="en-US" sz="1200" dirty="0"/>
          </a:p>
        </p:txBody>
      </p:sp>
      <p:sp>
        <p:nvSpPr>
          <p:cNvPr id="8" name="Shape 6"/>
          <p:cNvSpPr/>
          <p:nvPr/>
        </p:nvSpPr>
        <p:spPr>
          <a:xfrm>
            <a:off x="2843784" y="2432304"/>
            <a:ext cx="164592" cy="164592"/>
          </a:xfrm>
          <a:prstGeom prst="ellipse">
            <a:avLst/>
          </a:prstGeom>
          <a:solidFill>
            <a:srgbClr val="8E8E9C"/>
          </a:solidFill>
          <a:ln w="12700">
            <a:solidFill>
              <a:srgbClr val="8E8E9C"/>
            </a:solidFill>
            <a:prstDash val="solid"/>
          </a:ln>
        </p:spPr>
      </p:sp>
      <p:sp>
        <p:nvSpPr>
          <p:cNvPr id="9" name="Text 7"/>
          <p:cNvSpPr txBox="1"/>
          <p:nvPr/>
        </p:nvSpPr>
        <p:spPr>
          <a:xfrm>
            <a:off x="2194560" y="1828800"/>
            <a:ext cx="1463040" cy="36576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2007</a:t>
            </a:r>
            <a:endParaRPr lang="en-US" sz="1800" dirty="0"/>
          </a:p>
        </p:txBody>
      </p:sp>
      <p:sp>
        <p:nvSpPr>
          <p:cNvPr id="10" name="Text 8"/>
          <p:cNvSpPr txBox="1"/>
          <p:nvPr/>
        </p:nvSpPr>
        <p:spPr>
          <a:xfrm>
            <a:off x="2194560" y="2788920"/>
            <a:ext cx="1463040" cy="320040"/>
          </a:xfrm>
          <a:prstGeom prst="rect">
            <a:avLst/>
          </a:prstGeom>
          <a:noFill/>
          <a:ln/>
        </p:spPr>
        <p:txBody>
          <a:bodyPr wrap="square" lIns="0" tIns="0" rIns="0" bIns="0" rtlCol="0" anchor="ctr"/>
          <a:lstStyle/>
          <a:p>
            <a:pPr algn="ctr" indent="0" marL="0">
              <a:buNone/>
            </a:pPr>
            <a:r>
              <a:rPr lang="en-US" sz="1200" dirty="0">
                <a:solidFill>
                  <a:srgbClr val="8E8E9C"/>
                </a:solidFill>
                <a:latin typeface="Arial" pitchFamily="34" charset="0"/>
                <a:ea typeface="Arial" pitchFamily="34" charset="-122"/>
                <a:cs typeface="Arial" pitchFamily="34" charset="-120"/>
              </a:rPr>
              <a:t>Black Star</a:t>
            </a:r>
            <a:endParaRPr lang="en-US" sz="1200" dirty="0"/>
          </a:p>
        </p:txBody>
      </p:sp>
      <p:sp>
        <p:nvSpPr>
          <p:cNvPr id="11" name="Shape 9"/>
          <p:cNvSpPr/>
          <p:nvPr/>
        </p:nvSpPr>
        <p:spPr>
          <a:xfrm>
            <a:off x="4489704" y="2432304"/>
            <a:ext cx="164592" cy="164592"/>
          </a:xfrm>
          <a:prstGeom prst="ellipse">
            <a:avLst/>
          </a:prstGeom>
          <a:solidFill>
            <a:srgbClr val="8E8E9C"/>
          </a:solidFill>
          <a:ln w="12700">
            <a:solidFill>
              <a:srgbClr val="8E8E9C"/>
            </a:solidFill>
            <a:prstDash val="solid"/>
          </a:ln>
        </p:spPr>
      </p:sp>
      <p:sp>
        <p:nvSpPr>
          <p:cNvPr id="12" name="Text 10"/>
          <p:cNvSpPr txBox="1"/>
          <p:nvPr/>
        </p:nvSpPr>
        <p:spPr>
          <a:xfrm>
            <a:off x="3840480" y="1828800"/>
            <a:ext cx="1463040" cy="36576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2011</a:t>
            </a:r>
            <a:endParaRPr lang="en-US" sz="1800" dirty="0"/>
          </a:p>
        </p:txBody>
      </p:sp>
      <p:sp>
        <p:nvSpPr>
          <p:cNvPr id="13" name="Text 11"/>
          <p:cNvSpPr txBox="1"/>
          <p:nvPr/>
        </p:nvSpPr>
        <p:spPr>
          <a:xfrm>
            <a:off x="3840480" y="2788920"/>
            <a:ext cx="1463040" cy="320040"/>
          </a:xfrm>
          <a:prstGeom prst="rect">
            <a:avLst/>
          </a:prstGeom>
          <a:noFill/>
          <a:ln/>
        </p:spPr>
        <p:txBody>
          <a:bodyPr wrap="square" lIns="0" tIns="0" rIns="0" bIns="0" rtlCol="0" anchor="ctr"/>
          <a:lstStyle/>
          <a:p>
            <a:pPr algn="ctr" indent="0" marL="0">
              <a:buNone/>
            </a:pPr>
            <a:r>
              <a:rPr lang="en-US" sz="1200" dirty="0">
                <a:solidFill>
                  <a:srgbClr val="8E8E9C"/>
                </a:solidFill>
                <a:latin typeface="Arial" pitchFamily="34" charset="0"/>
                <a:ea typeface="Arial" pitchFamily="34" charset="-122"/>
                <a:cs typeface="Arial" pitchFamily="34" charset="-120"/>
              </a:rPr>
              <a:t>«Отпусти»</a:t>
            </a:r>
            <a:endParaRPr lang="en-US" sz="1200" dirty="0"/>
          </a:p>
        </p:txBody>
      </p:sp>
      <p:sp>
        <p:nvSpPr>
          <p:cNvPr id="14" name="Shape 12"/>
          <p:cNvSpPr/>
          <p:nvPr/>
        </p:nvSpPr>
        <p:spPr>
          <a:xfrm>
            <a:off x="6135624" y="2432304"/>
            <a:ext cx="164592" cy="164592"/>
          </a:xfrm>
          <a:prstGeom prst="ellipse">
            <a:avLst/>
          </a:prstGeom>
          <a:solidFill>
            <a:srgbClr val="8E8E9C"/>
          </a:solidFill>
          <a:ln w="12700">
            <a:solidFill>
              <a:srgbClr val="8E8E9C"/>
            </a:solidFill>
            <a:prstDash val="solid"/>
          </a:ln>
        </p:spPr>
      </p:sp>
      <p:sp>
        <p:nvSpPr>
          <p:cNvPr id="15" name="Text 13"/>
          <p:cNvSpPr txBox="1"/>
          <p:nvPr/>
        </p:nvSpPr>
        <p:spPr>
          <a:xfrm>
            <a:off x="5486400" y="1828800"/>
            <a:ext cx="1463040" cy="365760"/>
          </a:xfrm>
          <a:prstGeom prst="rect">
            <a:avLst/>
          </a:prstGeom>
          <a:noFill/>
          <a:ln/>
        </p:spPr>
        <p:txBody>
          <a:bodyPr wrap="square" lIns="0" tIns="0" rIns="0" bIns="0" rtlCol="0" anchor="ctr"/>
          <a:lstStyle/>
          <a:p>
            <a:pPr algn="ctr" indent="0" marL="0">
              <a:buNone/>
            </a:pPr>
            <a:r>
              <a:rPr lang="en-US" sz="1800" b="1" dirty="0">
                <a:solidFill>
                  <a:srgbClr val="F4F4F6"/>
                </a:solidFill>
                <a:latin typeface="Arial" pitchFamily="34" charset="0"/>
                <a:ea typeface="Arial" pitchFamily="34" charset="-122"/>
                <a:cs typeface="Arial" pitchFamily="34" charset="-120"/>
              </a:rPr>
              <a:t>2018</a:t>
            </a:r>
            <a:endParaRPr lang="en-US" sz="1800" dirty="0"/>
          </a:p>
        </p:txBody>
      </p:sp>
      <p:sp>
        <p:nvSpPr>
          <p:cNvPr id="16" name="Text 14"/>
          <p:cNvSpPr txBox="1"/>
          <p:nvPr/>
        </p:nvSpPr>
        <p:spPr>
          <a:xfrm>
            <a:off x="5486400" y="2788920"/>
            <a:ext cx="1463040" cy="320040"/>
          </a:xfrm>
          <a:prstGeom prst="rect">
            <a:avLst/>
          </a:prstGeom>
          <a:noFill/>
          <a:ln/>
        </p:spPr>
        <p:txBody>
          <a:bodyPr wrap="square" lIns="0" tIns="0" rIns="0" bIns="0" rtlCol="0" anchor="ctr"/>
          <a:lstStyle/>
          <a:p>
            <a:pPr algn="ctr" indent="0" marL="0">
              <a:buNone/>
            </a:pPr>
            <a:r>
              <a:rPr lang="en-US" sz="1200" dirty="0">
                <a:solidFill>
                  <a:srgbClr val="8E8E9C"/>
                </a:solidFill>
                <a:latin typeface="Arial" pitchFamily="34" charset="0"/>
                <a:ea typeface="Arial" pitchFamily="34" charset="-122"/>
                <a:cs typeface="Arial" pitchFamily="34" charset="-120"/>
              </a:rPr>
              <a:t>«ДНК»</a:t>
            </a:r>
            <a:endParaRPr lang="en-US" sz="1200" dirty="0"/>
          </a:p>
        </p:txBody>
      </p:sp>
      <p:sp>
        <p:nvSpPr>
          <p:cNvPr id="17" name="Shape 15"/>
          <p:cNvSpPr/>
          <p:nvPr/>
        </p:nvSpPr>
        <p:spPr>
          <a:xfrm>
            <a:off x="7735824" y="2386584"/>
            <a:ext cx="256032" cy="256032"/>
          </a:xfrm>
          <a:prstGeom prst="ellipse">
            <a:avLst/>
          </a:prstGeom>
          <a:solidFill>
            <a:srgbClr val="8B7CF6"/>
          </a:solidFill>
          <a:ln w="12700">
            <a:solidFill>
              <a:srgbClr val="8B7CF6"/>
            </a:solidFill>
            <a:prstDash val="solid"/>
          </a:ln>
        </p:spPr>
      </p:sp>
      <p:sp>
        <p:nvSpPr>
          <p:cNvPr id="18" name="Text 16"/>
          <p:cNvSpPr txBox="1"/>
          <p:nvPr/>
        </p:nvSpPr>
        <p:spPr>
          <a:xfrm>
            <a:off x="7132320" y="1828800"/>
            <a:ext cx="1463040" cy="365760"/>
          </a:xfrm>
          <a:prstGeom prst="rect">
            <a:avLst/>
          </a:prstGeom>
          <a:noFill/>
          <a:ln/>
        </p:spPr>
        <p:txBody>
          <a:bodyPr wrap="square" lIns="0" tIns="0" rIns="0" bIns="0" rtlCol="0" anchor="ctr"/>
          <a:lstStyle/>
          <a:p>
            <a:pPr algn="ctr" indent="0" marL="0">
              <a:buNone/>
            </a:pPr>
            <a:r>
              <a:rPr lang="en-US" sz="1800" b="1" dirty="0">
                <a:solidFill>
                  <a:srgbClr val="8B7CF6"/>
                </a:solidFill>
                <a:latin typeface="Arial" pitchFamily="34" charset="0"/>
                <a:ea typeface="Arial" pitchFamily="34" charset="-122"/>
                <a:cs typeface="Arial" pitchFamily="34" charset="-120"/>
              </a:rPr>
              <a:t>2024</a:t>
            </a:r>
            <a:endParaRPr lang="en-US" sz="1800" dirty="0"/>
          </a:p>
        </p:txBody>
      </p:sp>
      <p:sp>
        <p:nvSpPr>
          <p:cNvPr id="19" name="Text 17"/>
          <p:cNvSpPr txBox="1"/>
          <p:nvPr/>
        </p:nvSpPr>
        <p:spPr>
          <a:xfrm>
            <a:off x="7132320" y="2788920"/>
            <a:ext cx="1463040" cy="320040"/>
          </a:xfrm>
          <a:prstGeom prst="rect">
            <a:avLst/>
          </a:prstGeom>
          <a:noFill/>
          <a:ln/>
        </p:spPr>
        <p:txBody>
          <a:bodyPr wrap="square" lIns="0" tIns="0" rIns="0" bIns="0" rtlCol="0" anchor="ctr"/>
          <a:lstStyle/>
          <a:p>
            <a:pPr algn="ctr" indent="0" marL="0">
              <a:buNone/>
            </a:pPr>
            <a:r>
              <a:rPr lang="en-US" sz="1200" dirty="0">
                <a:solidFill>
                  <a:srgbClr val="8E8E9C"/>
                </a:solidFill>
                <a:latin typeface="Arial" pitchFamily="34" charset="0"/>
                <a:ea typeface="Arial" pitchFamily="34" charset="-122"/>
                <a:cs typeface="Arial" pitchFamily="34" charset="-120"/>
              </a:rPr>
              <a:t>«Худи»</a:t>
            </a:r>
            <a:endParaRPr lang="en-US" sz="1200" dirty="0"/>
          </a:p>
        </p:txBody>
      </p:sp>
      <p:sp>
        <p:nvSpPr>
          <p:cNvPr id="20" name="Text 18"/>
          <p:cNvSpPr txBox="1"/>
          <p:nvPr/>
        </p:nvSpPr>
        <p:spPr>
          <a:xfrm>
            <a:off x="548640" y="3611880"/>
            <a:ext cx="8046720" cy="640080"/>
          </a:xfrm>
          <a:prstGeom prst="rect">
            <a:avLst/>
          </a:prstGeom>
          <a:noFill/>
          <a:ln/>
        </p:spPr>
        <p:txBody>
          <a:bodyPr wrap="square" lIns="0" tIns="0" rIns="0" bIns="0" rtlCol="0" anchor="ctr"/>
          <a:lstStyle/>
          <a:p>
            <a:pPr algn="ctr" indent="0" marL="0">
              <a:buNone/>
            </a:pPr>
            <a:r>
              <a:rPr lang="en-US" sz="2800" b="1" dirty="0">
                <a:solidFill>
                  <a:srgbClr val="F4F4F6"/>
                </a:solidFill>
                <a:latin typeface="Arial" pitchFamily="34" charset="0"/>
                <a:ea typeface="Arial" pitchFamily="34" charset="-122"/>
                <a:cs typeface="Arial" pitchFamily="34" charset="-120"/>
              </a:rPr>
              <a:t>Спасибо за внимание!</a:t>
            </a:r>
            <a:endParaRPr lang="en-US" sz="2800" dirty="0"/>
          </a:p>
        </p:txBody>
      </p:sp>
      <p:sp>
        <p:nvSpPr>
          <p:cNvPr id="21" name="Text 19"/>
          <p:cNvSpPr txBox="1"/>
          <p:nvPr/>
        </p:nvSpPr>
        <p:spPr>
          <a:xfrm>
            <a:off x="7680960" y="4663440"/>
            <a:ext cx="914400" cy="228600"/>
          </a:xfrm>
          <a:prstGeom prst="rect">
            <a:avLst/>
          </a:prstGeom>
          <a:noFill/>
          <a:ln/>
        </p:spPr>
        <p:txBody>
          <a:bodyPr wrap="square" lIns="0" tIns="0" rIns="0" bIns="0" rtlCol="0" anchor="ctr"/>
          <a:lstStyle/>
          <a:p>
            <a:pPr algn="r" indent="0" marL="0">
              <a:buNone/>
            </a:pPr>
            <a:r>
              <a:rPr lang="en-US" sz="900" dirty="0">
                <a:solidFill>
                  <a:srgbClr val="8E8E9C"/>
                </a:solidFill>
                <a:latin typeface="Arial" pitchFamily="34" charset="0"/>
                <a:ea typeface="Arial" pitchFamily="34" charset="-122"/>
                <a:cs typeface="Arial"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Джиган: от одесского диджея до «Бриллиантового диска»</dc:title>
  <dc:subject>PptxGenJS Presentation</dc:subject>
  <dc:creator>PptxGenJS</dc:creator>
  <cp:lastModifiedBy>PptxGenJS</cp:lastModifiedBy>
  <cp:revision>1</cp:revision>
  <dcterms:created xsi:type="dcterms:W3CDTF">2026-09-30T13:52:48Z</dcterms:created>
  <dcterms:modified xsi:type="dcterms:W3CDTF">2026-09-30T13:52:48Z</dcterms:modified>
</cp:coreProperties>
</file>